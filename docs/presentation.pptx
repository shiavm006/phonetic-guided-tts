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7fc22a-6e3d-c257-c6e8-11fff9cc33eb}">
          <p14:sldIdLst>
            <p14:sldId id="256"/>
            <p14:sldId id="257"/>
            <p14:sldId id="258"/>
          </p14:sldIdLst>
        </p14:section>
        <p14:section name="Method" id="{24a33b4e-44ac-01ec-3d86-d658d0df36ac}">
          <p14:sldIdLst>
            <p14:sldId id="259"/>
            <p14:sldId id="260"/>
            <p14:sldId id="261"/>
          </p14:sldIdLst>
        </p14:section>
        <p14:section name="Results" id="{46f51ba5-17b8-f6a2-8b0d-6f8120e970a7}">
          <p14:sldIdLst>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WER</c:v>
                </c:pt>
              </c:strCache>
            </c:strRef>
          </c:tx>
          <c:spPr>
            <a:solidFill>
              <a:srgbClr val="B9BEC6"/>
            </a:solidFill>
            <a:effectLst/>
          </c:spPr>
          <c:invertIfNegative val="0"/>
          <c:dLbls>
            <c:numFmt formatCode="0.0&quot;%&quot;"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B9BEC6"/>
              </a:solidFill>
              <a:effectLst/>
            </c:spPr>
          </c:dPt>
          <c:dPt>
            <c:idx val="1"/>
            <c:invertIfNegative val="0"/>
            <c:bubble3D val="0"/>
            <c:spPr>
              <a:solidFill>
                <a:srgbClr val="1F3A5F"/>
              </a:solidFill>
              <a:effectLst/>
            </c:spPr>
          </c:dPt>
          <c:dPt>
            <c:idx val="2"/>
            <c:invertIfNegative val="0"/>
            <c:bubble3D val="0"/>
            <c:spPr>
              <a:solidFill>
                <a:srgbClr val="B9BEC6"/>
              </a:solidFill>
              <a:effectLst/>
            </c:spPr>
          </c:dPt>
          <c:dPt>
            <c:idx val="3"/>
            <c:invertIfNegative val="0"/>
            <c:bubble3D val="0"/>
            <c:spPr>
              <a:solidFill>
                <a:srgbClr val="3A3F45"/>
              </a:solidFill>
              <a:effectLst/>
            </c:spPr>
          </c:dPt>
          <c:cat>
            <c:multiLvlStrRef>
              <c:f>Sheet1!$A$2:$A$5</c:f>
              <c:multiLvlStrCache>
                <c:ptCount val="4"/>
                <c:lvl>
                  <c:pt idx="0">
                    <c:v>Recording</c:v>
                  </c:pt>
                  <c:pt idx="1">
                    <c:v>Ours</c:v>
                  </c:pt>
                  <c:pt idx="2">
                    <c:v>FastSpeech2</c:v>
                  </c:pt>
                  <c:pt idx="3">
                    <c:v>Averaged sounds</c:v>
                  </c:pt>
                </c:lvl>
              </c:multiLvlStrCache>
            </c:multiLvlStrRef>
          </c:cat>
          <c:val>
            <c:numRef>
              <c:f>Sheet1!$B$2:$B$5</c:f>
              <c:numCache>
                <c:formatCode>General</c:formatCode>
                <c:ptCount val="4"/>
                <c:pt idx="0">
                  <c:v>2</c:v>
                </c:pt>
                <c:pt idx="1">
                  <c:v>3.1</c:v>
                </c:pt>
                <c:pt idx="2">
                  <c:v>5.3</c:v>
                </c:pt>
                <c:pt idx="3">
                  <c:v>36.6</c:v>
                </c:pt>
              </c:numCache>
            </c:numRef>
          </c:val>
        </c:ser>
        <c:dLbls>
          <c:numFmt formatCode="0.0&quot;%&quot;"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7A7F87"/>
                </a:solidFill>
                <a:latin typeface="+mn-lt"/>
              </a:defRPr>
            </a:pPr>
            <a:endParaRPr lang="en-US"/>
          </a:p>
        </c:txPr>
        <c:crossAx val="2094734552"/>
        <c:crosses val="autoZero"/>
        <c:auto val="1"/>
        <c:lblAlgn val="ctr"/>
        <c:noMultiLvlLbl val="1"/>
      </c:catAx>
      <c:valAx>
        <c:axId val="2094734552"/>
        <c:scaling>
          <c:orientation val="minMax"/>
          <c:max val="4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Shivam Mittal
Our project asks how much of good synthetic speech comes from knowing the timing of each sound, and how much needs a learned model of the sound itself. The image is real forced-alignment output for the word 'Printing': every phoneme with its exact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Shivam Mittal
Speech synthesis has two parts: deciding when each sound happens and how long it lasts, and deciding what it sounds like. We separate them and test three hypotheses. H1 is the gap described in the brief. H2 asks whether classical explicit timing still adds value to a neural model. H3 we formed during the project after raw alignment timing hurt the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Khushi Batra
Forced alignment comes from the HMM tradition, which modelled duration explicitly. Neural TTS either learns alignment implicitly, like Tacotron 2, or predicts durations inside the network, like FastSpeech 2. Grad-TTS uses diffusion to fight over-smoothing, which becomes relevant later. Our contribution is a controlled comparison: change exactly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Divya Singh
Two classical models predict a timing plan: where pauses go and how long each phoneme lasts; the aligner only provides training labels. The plan is rendered either by averaged sounds or by a pretrained FastSpeech2 decoder driven by our own durations, with the same vocoder for all. Data: LJSpeech, one speaker, about 24 hours; every clip aligned, split by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Divya Singh
Duration: each phoneme is one example; LightGBM uses the phoneme, its neighbours, stress, position and whether a pause follows, and cuts error by a third versus a per-phoneme average. Pauses: for every word gap we predict pause or no pause from text only; the classifier finds nine points more real pauses than the punctuation rule at the same 68%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Sanath Waraikar
The baseline is deliberately simple: one averaged frame per phoneme. The hybrid bypasses FastSpeech2's own duration predictor and expands the encoded phonemes by our durations. One lesson: the model's vocabulary has no space token; we initially followed its documentation and fed spaces, which silently became unknown tokens and badly degraded output. Our code now rejects unknown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Aryan
The pretrained models were trained on SpeechBrain's own split; we re-ran their split script with the same seed and tested only on sentences held out from their training and ours. Each system changes one thing: baseline and hybrid share timing, hybrid and FastSpeech2 share the decoder and pauses. Text-only variants use no information from the test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Aryan
With identical text-only timing, the averaged-sound baseline gets more than a third of words wrong; the neural decoder driven by our timing gets 3.1 percent, close to real recordings at 2.0. The confidence interval of the difference is nowhere near zero. H1 is supported: learned acoustics are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Aryan
Our hybrid is the most intelligible synthetic system and statistically as natural as FastSpeech2. The vocoder costs naturalness but not intelligibility. In the blind listening test the baseline was never preferred; that test used an earlier, weaker neural system, so it is conservative. Main failure cases are rare proper nouns such as 'Walsall in Staffordshire'.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Divya Singh
Here the decoder, the phonemes and the pause positions are identical; only the source of the durations changes. Our explicit duration model lowers word error from 5.3 to 3.1 percent, a significant gain, with no loss of naturalness. Our predictor is also more accurate, partly because it is trained on the same kind of alignments it is measured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Sanath Waraikar
The recording and our system show harmonics of a moving pitch and smooth transitions. The baseline has the same rhythm but consists of flat blocks: averaging one vowel across thousands of recordings at different pitches cancels the harmonics. This is the brief's gap made visible: timing without timbre, coarticulation or prosody.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Sanath Waraikar
We noticed raw alignment timing hurt the pretrained decoder and traced it to ultra-short phonemes. Fine-tuning on our alignments fixed exactly that, confirming H3. But naturalness fell by 0.43 for every system, and the text-only WER rose slightly. Lower loss does not mean better audio. Our final system therefore keeps the pretrained decoder; diffusion decoders such as Grad-TTS target this over-smoothing.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Shivam Mittal
Both parts matter, but learned acoustics matter far more, and explicit phonetic guidance still adds measurable value on top of a neural model. Limits: one speaker, and text-only systems still use the aligner's pronunciations. The remaining gap is naturalness, which diffusion decoders address. Code, results and audio are on GitHub. Thank you. Diffusion was optional in the brief; we prioritised a rigorous baseline and hybrid, and our fine-tuning result shows exactly why diffusion is the next step: the remaining gap is naturalness, not intelligibility.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713232"/>
            <a:ext cx="7772400" cy="685800"/>
          </a:xfrm>
          <a:prstGeom prst="rect">
            <a:avLst/>
          </a:prstGeom>
          <a:noFill/>
          <a:ln/>
        </p:spPr>
        <p:txBody>
          <a:bodyPr wrap="square" rtlCol="0"/>
          <a:lstStyle>
            <a:lvl1pPr algn="l" indent="0" marL="0">
              <a:buNone/>
              <a:defRPr lang="en-US" sz="2800"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548640"/>
            <a:ext cx="7772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ADVANCED MACHINE LEARNING  &amp;  DEEP LEARNING</a:t>
            </a:r>
            <a:endParaRPr lang="en-US" sz="900" dirty="0"/>
          </a:p>
        </p:txBody>
      </p:sp>
      <p:sp>
        <p:nvSpPr>
          <p:cNvPr id="3" name="Text 1"/>
          <p:cNvSpPr txBox="1"/>
          <p:nvPr/>
        </p:nvSpPr>
        <p:spPr>
          <a:xfrm>
            <a:off x="685800" y="868680"/>
            <a:ext cx="7772400" cy="731520"/>
          </a:xfrm>
          <a:prstGeom prst="rect">
            <a:avLst/>
          </a:prstGeom>
          <a:noFill/>
          <a:ln/>
        </p:spPr>
        <p:txBody>
          <a:bodyPr wrap="square" lIns="0" tIns="0" rIns="0" bIns="0" rtlCol="0" anchor="ctr"/>
          <a:lstStyle/>
          <a:p>
            <a:pPr indent="0" marL="0">
              <a:buNone/>
            </a:pPr>
            <a:r>
              <a:rPr lang="en-US" sz="3600" dirty="0">
                <a:solidFill>
                  <a:schemeClr val="tx1"/>
                </a:solidFill>
                <a:latin typeface="Cambria" pitchFamily="34" charset="0"/>
                <a:ea typeface="Cambria" pitchFamily="34" charset="-122"/>
                <a:cs typeface="Cambria" pitchFamily="34" charset="-120"/>
              </a:rPr>
              <a:t>Phonetic Guided Speech Generation</a:t>
            </a:r>
            <a:endParaRPr lang="en-US" sz="3600" dirty="0"/>
          </a:p>
        </p:txBody>
      </p:sp>
      <p:sp>
        <p:nvSpPr>
          <p:cNvPr id="4" name="Text 2"/>
          <p:cNvSpPr txBox="1"/>
          <p:nvPr/>
        </p:nvSpPr>
        <p:spPr>
          <a:xfrm>
            <a:off x="685800" y="1600200"/>
            <a:ext cx="7772400" cy="365760"/>
          </a:xfrm>
          <a:prstGeom prst="rect">
            <a:avLst/>
          </a:prstGeom>
          <a:noFill/>
          <a:ln/>
        </p:spPr>
        <p:txBody>
          <a:bodyPr wrap="square" lIns="0" tIns="0" rIns="0" bIns="0" rtlCol="0" anchor="ctr"/>
          <a:lstStyle/>
          <a:p>
            <a:pPr indent="0" marL="0">
              <a:buNone/>
            </a:pPr>
            <a:r>
              <a:rPr lang="en-US" sz="1600" dirty="0">
                <a:solidFill>
                  <a:schemeClr val="accent3"/>
                </a:solidFill>
                <a:latin typeface="Calibri" pitchFamily="34" charset="0"/>
                <a:ea typeface="Calibri" pitchFamily="34" charset="-122"/>
                <a:cs typeface="Calibri" pitchFamily="34" charset="-120"/>
              </a:rPr>
              <a:t>Explicit phoneme alignment and learned acoustic generation for text-to-speech</a:t>
            </a:r>
            <a:endParaRPr lang="en-US" sz="1600" dirty="0"/>
          </a:p>
        </p:txBody>
      </p:sp>
      <p:pic>
        <p:nvPicPr>
          <p:cNvPr id="5" name="Image 0" descr="The word Printing divided into its phonemes with real durations">    </p:cNvPr>
          <p:cNvPicPr>
            <a:picLocks noChangeAspect="1"/>
          </p:cNvPicPr>
          <p:nvPr/>
        </p:nvPicPr>
        <p:blipFill>
          <a:blip r:embed="rId1"/>
          <a:stretch>
            <a:fillRect/>
          </a:stretch>
        </p:blipFill>
        <p:spPr>
          <a:xfrm>
            <a:off x="685800" y="2011680"/>
            <a:ext cx="6400800" cy="2240280"/>
          </a:xfrm>
          <a:prstGeom prst="rect">
            <a:avLst/>
          </a:prstGeom>
        </p:spPr>
      </p:pic>
      <p:sp>
        <p:nvSpPr>
          <p:cNvPr id="6" name="Text 3"/>
          <p:cNvSpPr txBox="1"/>
          <p:nvPr/>
        </p:nvSpPr>
        <p:spPr>
          <a:xfrm>
            <a:off x="685800" y="4389120"/>
            <a:ext cx="7772400" cy="22860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Shivam Mittal   ·   Khushi Batra   ·   Divya Singh   ·   Sanath Waraikar   ·   Aryan</a:t>
            </a:r>
            <a:endParaRPr lang="en-US" sz="1100" dirty="0"/>
          </a:p>
        </p:txBody>
      </p:sp>
      <p:sp>
        <p:nvSpPr>
          <p:cNvPr id="7" name="Text 4"/>
          <p:cNvSpPr txBox="1"/>
          <p:nvPr/>
        </p:nvSpPr>
        <p:spPr>
          <a:xfrm>
            <a:off x="685800" y="4636008"/>
            <a:ext cx="7772400" cy="228600"/>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Newton School of Technology, Rishihood University   ·   github.com/shiavm006/phonetic-guided-tts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01    MOTIVATION &amp; HYPOTHESES</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Speech has two parts: when, and how</a:t>
            </a:r>
            <a:endParaRPr lang="en-US" sz="2800" dirty="0"/>
          </a:p>
        </p:txBody>
      </p:sp>
      <p:pic>
        <p:nvPicPr>
          <p:cNvPr id="4" name="Image 0" descr="When: timing. How: the sound itself.">    </p:cNvPr>
          <p:cNvPicPr>
            <a:picLocks noChangeAspect="1"/>
          </p:cNvPicPr>
          <p:nvPr/>
        </p:nvPicPr>
        <p:blipFill>
          <a:blip r:embed="rId1"/>
          <a:stretch>
            <a:fillRect/>
          </a:stretch>
        </p:blipFill>
        <p:spPr>
          <a:xfrm>
            <a:off x="685800" y="1554480"/>
            <a:ext cx="3931920" cy="1651406"/>
          </a:xfrm>
          <a:prstGeom prst="rect">
            <a:avLst/>
          </a:prstGeom>
        </p:spPr>
      </p:pic>
      <p:sp>
        <p:nvSpPr>
          <p:cNvPr id="5" name="Text 2"/>
          <p:cNvSpPr txBox="1"/>
          <p:nvPr/>
        </p:nvSpPr>
        <p:spPr>
          <a:xfrm>
            <a:off x="685800" y="3383280"/>
            <a:ext cx="3840480" cy="640080"/>
          </a:xfrm>
          <a:prstGeom prst="rect">
            <a:avLst/>
          </a:prstGeom>
          <a:noFill/>
          <a:ln/>
        </p:spPr>
        <p:txBody>
          <a:bodyPr wrap="square" lIns="0" tIns="0" rIns="0" bIns="0" rtlCol="0" anchor="t"/>
          <a:lstStyle/>
          <a:p>
            <a:pPr indent="0" marL="0">
              <a:buNone/>
            </a:pPr>
            <a:r>
              <a:rPr lang="en-US" sz="1500" i="1" dirty="0">
                <a:solidFill>
                  <a:schemeClr val="tx1"/>
                </a:solidFill>
                <a:latin typeface="Cambria" pitchFamily="34" charset="0"/>
                <a:ea typeface="Cambria" pitchFamily="34" charset="-122"/>
                <a:cs typeface="Cambria" pitchFamily="34" charset="-120"/>
              </a:rPr>
              <a:t>If the timing is known exactly, how much of speech comes for free?</a:t>
            </a:r>
            <a:endParaRPr lang="en-US" sz="1500" dirty="0"/>
          </a:p>
        </p:txBody>
      </p:sp>
      <p:sp>
        <p:nvSpPr>
          <p:cNvPr id="6" name="Text 3"/>
          <p:cNvSpPr txBox="1"/>
          <p:nvPr/>
        </p:nvSpPr>
        <p:spPr>
          <a:xfrm>
            <a:off x="4892040" y="1554480"/>
            <a:ext cx="54864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H1</a:t>
            </a:r>
            <a:endParaRPr lang="en-US" sz="2200" dirty="0"/>
          </a:p>
        </p:txBody>
      </p:sp>
      <p:sp>
        <p:nvSpPr>
          <p:cNvPr id="7" name="Text 4"/>
          <p:cNvSpPr txBox="1"/>
          <p:nvPr/>
        </p:nvSpPr>
        <p:spPr>
          <a:xfrm>
            <a:off x="5486400" y="1581912"/>
            <a:ext cx="29718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Explicit timing alone cannot give intelligible speech; a learned acoustic model is needed.</a:t>
            </a:r>
            <a:endParaRPr lang="en-US" sz="1300" dirty="0"/>
          </a:p>
        </p:txBody>
      </p:sp>
      <p:sp>
        <p:nvSpPr>
          <p:cNvPr id="8" name="Text 5"/>
          <p:cNvSpPr txBox="1"/>
          <p:nvPr/>
        </p:nvSpPr>
        <p:spPr>
          <a:xfrm>
            <a:off x="4892040" y="2423160"/>
            <a:ext cx="54864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H2</a:t>
            </a:r>
            <a:endParaRPr lang="en-US" sz="2200" dirty="0"/>
          </a:p>
        </p:txBody>
      </p:sp>
      <p:sp>
        <p:nvSpPr>
          <p:cNvPr id="9" name="Text 6"/>
          <p:cNvSpPr txBox="1"/>
          <p:nvPr/>
        </p:nvSpPr>
        <p:spPr>
          <a:xfrm>
            <a:off x="5486400" y="2450592"/>
            <a:ext cx="29718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Explicit duration and pause models improve a neural decoder over its own timing.</a:t>
            </a:r>
            <a:endParaRPr lang="en-US" sz="1300" dirty="0"/>
          </a:p>
        </p:txBody>
      </p:sp>
      <p:sp>
        <p:nvSpPr>
          <p:cNvPr id="10" name="Text 7"/>
          <p:cNvSpPr txBox="1"/>
          <p:nvPr/>
        </p:nvSpPr>
        <p:spPr>
          <a:xfrm>
            <a:off x="4892040" y="3291840"/>
            <a:ext cx="548640" cy="411480"/>
          </a:xfrm>
          <a:prstGeom prst="rect">
            <a:avLst/>
          </a:prstGeom>
          <a:noFill/>
          <a:ln/>
        </p:spPr>
        <p:txBody>
          <a:bodyPr wrap="square" lIns="0" tIns="0" rIns="0" bIns="0" rtlCol="0" anchor="t"/>
          <a:lstStyle/>
          <a:p>
            <a:pPr indent="0" marL="0">
              <a:buNone/>
            </a:pPr>
            <a:r>
              <a:rPr lang="en-US" sz="2200" dirty="0">
                <a:solidFill>
                  <a:schemeClr val="accent1"/>
                </a:solidFill>
                <a:latin typeface="Cambria" pitchFamily="34" charset="0"/>
                <a:ea typeface="Cambria" pitchFamily="34" charset="-122"/>
                <a:cs typeface="Cambria" pitchFamily="34" charset="-120"/>
              </a:rPr>
              <a:t>H3</a:t>
            </a:r>
            <a:endParaRPr lang="en-US" sz="2200" dirty="0"/>
          </a:p>
        </p:txBody>
      </p:sp>
      <p:sp>
        <p:nvSpPr>
          <p:cNvPr id="11" name="Text 8"/>
          <p:cNvSpPr txBox="1"/>
          <p:nvPr/>
        </p:nvSpPr>
        <p:spPr>
          <a:xfrm>
            <a:off x="5486400" y="3319272"/>
            <a:ext cx="29718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Fine-tuning the decoder on our alignments helps it render raw alignment timing.</a:t>
            </a:r>
            <a:endParaRPr lang="en-US" sz="1300" dirty="0"/>
          </a:p>
        </p:txBody>
      </p:sp>
      <p:sp>
        <p:nvSpPr>
          <p:cNvPr id="12" name="Text 9"/>
          <p:cNvSpPr txBox="1"/>
          <p:nvPr/>
        </p:nvSpPr>
        <p:spPr>
          <a:xfrm>
            <a:off x="685800" y="4343400"/>
            <a:ext cx="7772400" cy="274320"/>
          </a:xfrm>
          <a:prstGeom prst="rect">
            <a:avLst/>
          </a:prstGeom>
          <a:noFill/>
          <a:ln/>
        </p:spPr>
        <p:txBody>
          <a:bodyPr wrap="square" lIns="0" tIns="0" rIns="0" bIns="0" rtlCol="0" anchor="ctr"/>
          <a:lstStyle/>
          <a:p>
            <a:pPr indent="0" marL="0">
              <a:buNone/>
            </a:pPr>
            <a:r>
              <a:rPr lang="en-US" sz="1100" dirty="0">
                <a:solidFill>
                  <a:schemeClr val="accent3"/>
                </a:solidFill>
                <a:latin typeface="Calibri" pitchFamily="34" charset="0"/>
                <a:ea typeface="Calibri" pitchFamily="34" charset="-122"/>
                <a:cs typeface="Calibri" pitchFamily="34" charset="-120"/>
              </a:rPr>
              <a:t>Scope: diffusion, optional in the brief, is left as a motivated extension (see slide 12).</a:t>
            </a:r>
            <a:endParaRPr lang="en-US" sz="11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02    RELATED WORK</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Where this work sits</a:t>
            </a:r>
            <a:endParaRPr lang="en-US" sz="2800" dirty="0"/>
          </a:p>
        </p:txBody>
      </p:sp>
      <p:sp>
        <p:nvSpPr>
          <p:cNvPr id="4" name="Text 2"/>
          <p:cNvSpPr txBox="1"/>
          <p:nvPr/>
        </p:nvSpPr>
        <p:spPr>
          <a:xfrm>
            <a:off x="685800" y="1600200"/>
            <a:ext cx="1783080" cy="365760"/>
          </a:xfrm>
          <a:prstGeom prst="rect">
            <a:avLst/>
          </a:prstGeom>
          <a:noFill/>
          <a:ln/>
        </p:spPr>
        <p:txBody>
          <a:bodyPr wrap="square" lIns="0" tIns="0" rIns="0" bIns="0" rtlCol="0" anchor="ctr"/>
          <a:lstStyle/>
          <a:p>
            <a:pPr indent="0" marL="0">
              <a:buNone/>
            </a:pPr>
            <a:r>
              <a:rPr lang="en-US" sz="1600" dirty="0">
                <a:solidFill>
                  <a:schemeClr val="accent1"/>
                </a:solidFill>
                <a:latin typeface="Cambria" pitchFamily="34" charset="0"/>
                <a:ea typeface="Cambria" pitchFamily="34" charset="-122"/>
                <a:cs typeface="Cambria" pitchFamily="34" charset="-120"/>
              </a:rPr>
              <a:t>Forced alignment</a:t>
            </a:r>
            <a:endParaRPr lang="en-US" sz="1600" dirty="0"/>
          </a:p>
        </p:txBody>
      </p:sp>
      <p:sp>
        <p:nvSpPr>
          <p:cNvPr id="5" name="Text 3"/>
          <p:cNvSpPr txBox="1"/>
          <p:nvPr/>
        </p:nvSpPr>
        <p:spPr>
          <a:xfrm>
            <a:off x="685800" y="2057400"/>
            <a:ext cx="1783080" cy="1737360"/>
          </a:xfrm>
          <a:prstGeom prst="rect">
            <a:avLst/>
          </a:prstGeom>
          <a:noFill/>
          <a:ln/>
        </p:spPr>
        <p:txBody>
          <a:bodyPr wrap="square" lIns="0" tIns="0" rIns="0" bIns="0" rtlCol="0" anchor="t"/>
          <a:lstStyle/>
          <a:p>
            <a:pPr indent="0" marL="0">
              <a:buNone/>
            </a:pPr>
            <a:r>
              <a:rPr lang="en-US" sz="1200" dirty="0">
                <a:solidFill>
                  <a:schemeClr val="accent3"/>
                </a:solidFill>
                <a:latin typeface="Calibri" pitchFamily="34" charset="0"/>
                <a:ea typeface="Calibri" pitchFamily="34" charset="-122"/>
                <a:cs typeface="Calibri" pitchFamily="34" charset="-120"/>
              </a:rPr>
              <a:t>HMM-GMM aligners place phoneme boundaries: Montreal Forced Aligner [1]; statistical parametric TTS [2]</a:t>
            </a:r>
            <a:endParaRPr lang="en-US" sz="1200" dirty="0"/>
          </a:p>
        </p:txBody>
      </p:sp>
      <p:sp>
        <p:nvSpPr>
          <p:cNvPr id="6" name="Text 4"/>
          <p:cNvSpPr txBox="1"/>
          <p:nvPr/>
        </p:nvSpPr>
        <p:spPr>
          <a:xfrm>
            <a:off x="2651760" y="1600200"/>
            <a:ext cx="1783080" cy="365760"/>
          </a:xfrm>
          <a:prstGeom prst="rect">
            <a:avLst/>
          </a:prstGeom>
          <a:noFill/>
          <a:ln/>
        </p:spPr>
        <p:txBody>
          <a:bodyPr wrap="square" lIns="0" tIns="0" rIns="0" bIns="0" rtlCol="0" anchor="ctr"/>
          <a:lstStyle/>
          <a:p>
            <a:pPr indent="0" marL="0">
              <a:buNone/>
            </a:pPr>
            <a:r>
              <a:rPr lang="en-US" sz="1600" dirty="0">
                <a:solidFill>
                  <a:schemeClr val="accent1"/>
                </a:solidFill>
                <a:latin typeface="Cambria" pitchFamily="34" charset="0"/>
                <a:ea typeface="Cambria" pitchFamily="34" charset="-122"/>
                <a:cs typeface="Cambria" pitchFamily="34" charset="-120"/>
              </a:rPr>
              <a:t>Neural TTS</a:t>
            </a:r>
            <a:endParaRPr lang="en-US" sz="1600" dirty="0"/>
          </a:p>
        </p:txBody>
      </p:sp>
      <p:sp>
        <p:nvSpPr>
          <p:cNvPr id="7" name="Text 5"/>
          <p:cNvSpPr txBox="1"/>
          <p:nvPr/>
        </p:nvSpPr>
        <p:spPr>
          <a:xfrm>
            <a:off x="2651760" y="2057400"/>
            <a:ext cx="1783080" cy="1737360"/>
          </a:xfrm>
          <a:prstGeom prst="rect">
            <a:avLst/>
          </a:prstGeom>
          <a:noFill/>
          <a:ln/>
        </p:spPr>
        <p:txBody>
          <a:bodyPr wrap="square" lIns="0" tIns="0" rIns="0" bIns="0" rtlCol="0" anchor="t"/>
          <a:lstStyle/>
          <a:p>
            <a:pPr indent="0" marL="0">
              <a:buNone/>
            </a:pPr>
            <a:r>
              <a:rPr lang="en-US" sz="1200" dirty="0">
                <a:solidFill>
                  <a:schemeClr val="accent3"/>
                </a:solidFill>
                <a:latin typeface="Calibri" pitchFamily="34" charset="0"/>
                <a:ea typeface="Calibri" pitchFamily="34" charset="-122"/>
                <a:cs typeface="Calibri" pitchFamily="34" charset="-120"/>
              </a:rPr>
              <a:t>Implicit alignment by attention: Tacotron 2 [3]. Explicit durations: FastSpeech 2 [4]</a:t>
            </a:r>
            <a:endParaRPr lang="en-US" sz="1200" dirty="0"/>
          </a:p>
        </p:txBody>
      </p:sp>
      <p:sp>
        <p:nvSpPr>
          <p:cNvPr id="8" name="Text 6"/>
          <p:cNvSpPr txBox="1"/>
          <p:nvPr/>
        </p:nvSpPr>
        <p:spPr>
          <a:xfrm>
            <a:off x="4617720" y="1600200"/>
            <a:ext cx="1783080" cy="365760"/>
          </a:xfrm>
          <a:prstGeom prst="rect">
            <a:avLst/>
          </a:prstGeom>
          <a:noFill/>
          <a:ln/>
        </p:spPr>
        <p:txBody>
          <a:bodyPr wrap="square" lIns="0" tIns="0" rIns="0" bIns="0" rtlCol="0" anchor="ctr"/>
          <a:lstStyle/>
          <a:p>
            <a:pPr indent="0" marL="0">
              <a:buNone/>
            </a:pPr>
            <a:r>
              <a:rPr lang="en-US" sz="1600" dirty="0">
                <a:solidFill>
                  <a:schemeClr val="accent1"/>
                </a:solidFill>
                <a:latin typeface="Cambria" pitchFamily="34" charset="0"/>
                <a:ea typeface="Cambria" pitchFamily="34" charset="-122"/>
                <a:cs typeface="Cambria" pitchFamily="34" charset="-120"/>
              </a:rPr>
              <a:t>Generation</a:t>
            </a:r>
            <a:endParaRPr lang="en-US" sz="1600" dirty="0"/>
          </a:p>
        </p:txBody>
      </p:sp>
      <p:sp>
        <p:nvSpPr>
          <p:cNvPr id="9" name="Text 7"/>
          <p:cNvSpPr txBox="1"/>
          <p:nvPr/>
        </p:nvSpPr>
        <p:spPr>
          <a:xfrm>
            <a:off x="4617720" y="2057400"/>
            <a:ext cx="1783080" cy="1737360"/>
          </a:xfrm>
          <a:prstGeom prst="rect">
            <a:avLst/>
          </a:prstGeom>
          <a:noFill/>
          <a:ln/>
        </p:spPr>
        <p:txBody>
          <a:bodyPr wrap="square" lIns="0" tIns="0" rIns="0" bIns="0" rtlCol="0" anchor="t"/>
          <a:lstStyle/>
          <a:p>
            <a:pPr indent="0" marL="0">
              <a:buNone/>
            </a:pPr>
            <a:r>
              <a:rPr lang="en-US" sz="1200" dirty="0">
                <a:solidFill>
                  <a:schemeClr val="accent3"/>
                </a:solidFill>
                <a:latin typeface="Calibri" pitchFamily="34" charset="0"/>
                <a:ea typeface="Calibri" pitchFamily="34" charset="-122"/>
                <a:cs typeface="Calibri" pitchFamily="34" charset="-120"/>
              </a:rPr>
              <a:t>Neural vocoder HiFi-GAN [5]; diffusion decoder Grad-TTS [6] against over-smoothing</a:t>
            </a:r>
            <a:endParaRPr lang="en-US" sz="1200" dirty="0"/>
          </a:p>
        </p:txBody>
      </p:sp>
      <p:sp>
        <p:nvSpPr>
          <p:cNvPr id="10" name="Text 8"/>
          <p:cNvSpPr txBox="1"/>
          <p:nvPr/>
        </p:nvSpPr>
        <p:spPr>
          <a:xfrm>
            <a:off x="6583680" y="1600200"/>
            <a:ext cx="1783080" cy="365760"/>
          </a:xfrm>
          <a:prstGeom prst="rect">
            <a:avLst/>
          </a:prstGeom>
          <a:noFill/>
          <a:ln/>
        </p:spPr>
        <p:txBody>
          <a:bodyPr wrap="square" lIns="0" tIns="0" rIns="0" bIns="0" rtlCol="0" anchor="ctr"/>
          <a:lstStyle/>
          <a:p>
            <a:pPr indent="0" marL="0">
              <a:buNone/>
            </a:pPr>
            <a:r>
              <a:rPr lang="en-US" sz="1600" dirty="0">
                <a:solidFill>
                  <a:schemeClr val="accent1"/>
                </a:solidFill>
                <a:latin typeface="Cambria" pitchFamily="34" charset="0"/>
                <a:ea typeface="Cambria" pitchFamily="34" charset="-122"/>
                <a:cs typeface="Cambria" pitchFamily="34" charset="-120"/>
              </a:rPr>
              <a:t>Evaluation</a:t>
            </a:r>
            <a:endParaRPr lang="en-US" sz="1600" dirty="0"/>
          </a:p>
        </p:txBody>
      </p:sp>
      <p:sp>
        <p:nvSpPr>
          <p:cNvPr id="11" name="Text 9"/>
          <p:cNvSpPr txBox="1"/>
          <p:nvPr/>
        </p:nvSpPr>
        <p:spPr>
          <a:xfrm>
            <a:off x="6583680" y="2057400"/>
            <a:ext cx="1783080" cy="1737360"/>
          </a:xfrm>
          <a:prstGeom prst="rect">
            <a:avLst/>
          </a:prstGeom>
          <a:noFill/>
          <a:ln/>
        </p:spPr>
        <p:txBody>
          <a:bodyPr wrap="square" lIns="0" tIns="0" rIns="0" bIns="0" rtlCol="0" anchor="t"/>
          <a:lstStyle/>
          <a:p>
            <a:pPr indent="0" marL="0">
              <a:buNone/>
            </a:pPr>
            <a:r>
              <a:rPr lang="en-US" sz="1200" dirty="0">
                <a:solidFill>
                  <a:schemeClr val="accent3"/>
                </a:solidFill>
                <a:latin typeface="Calibri" pitchFamily="34" charset="0"/>
                <a:ea typeface="Calibri" pitchFamily="34" charset="-122"/>
                <a:cs typeface="Calibri" pitchFamily="34" charset="-120"/>
              </a:rPr>
              <a:t>Held-out ASR for intelligibility: Whisper [7]; learned MOS predictor: UTMOS [8]</a:t>
            </a:r>
            <a:endParaRPr lang="en-US" sz="1200" dirty="0"/>
          </a:p>
        </p:txBody>
      </p:sp>
      <p:sp>
        <p:nvSpPr>
          <p:cNvPr id="12" name="Text 10"/>
          <p:cNvSpPr txBox="1"/>
          <p:nvPr/>
        </p:nvSpPr>
        <p:spPr>
          <a:xfrm>
            <a:off x="685800" y="3977640"/>
            <a:ext cx="7772400" cy="320040"/>
          </a:xfrm>
          <a:prstGeom prst="rect">
            <a:avLst/>
          </a:prstGeom>
          <a:noFill/>
          <a:ln/>
        </p:spPr>
        <p:txBody>
          <a:bodyPr wrap="square" lIns="0" tIns="0" rIns="0" bIns="0" rtlCol="0" anchor="ctr"/>
          <a:lstStyle/>
          <a:p>
            <a:pPr indent="0" marL="0">
              <a:buNone/>
            </a:pPr>
            <a:r>
              <a:rPr lang="en-US" sz="1500" i="1" dirty="0">
                <a:solidFill>
                  <a:schemeClr val="tx1"/>
                </a:solidFill>
                <a:latin typeface="Cambria" pitchFamily="34" charset="0"/>
                <a:ea typeface="Cambria" pitchFamily="34" charset="-122"/>
                <a:cs typeface="Cambria" pitchFamily="34" charset="-120"/>
              </a:rPr>
              <a:t>Our angle: hold one part fixed, change the other, on a leak-free test set.</a:t>
            </a:r>
            <a:endParaRPr lang="en-US" sz="1500" dirty="0"/>
          </a:p>
        </p:txBody>
      </p:sp>
      <p:sp>
        <p:nvSpPr>
          <p:cNvPr id="13" name="Text 11"/>
          <p:cNvSpPr txBox="1"/>
          <p:nvPr/>
        </p:nvSpPr>
        <p:spPr>
          <a:xfrm>
            <a:off x="685800" y="4434840"/>
            <a:ext cx="7772400" cy="274320"/>
          </a:xfrm>
          <a:prstGeom prst="rect">
            <a:avLst/>
          </a:prstGeom>
          <a:noFill/>
          <a:ln/>
        </p:spPr>
        <p:txBody>
          <a:bodyPr wrap="square" lIns="0" tIns="0" rIns="0" bIns="0" rtlCol="0" anchor="ctr"/>
          <a:lstStyle/>
          <a:p>
            <a:pPr indent="0" marL="0">
              <a:buNone/>
            </a:pPr>
            <a:r>
              <a:rPr lang="en-US" sz="1100" dirty="0">
                <a:solidFill>
                  <a:schemeClr val="accent3"/>
                </a:solidFill>
                <a:latin typeface="Calibri" pitchFamily="34" charset="0"/>
                <a:ea typeface="Calibri" pitchFamily="34" charset="-122"/>
                <a:cs typeface="Calibri" pitchFamily="34" charset="-120"/>
              </a:rPr>
              <a:t>[1] McAuliffe 2017 · [2] Zen 2009 · [3] Shen 2018 · [4] Ren 2021 · [5] Kong 2020 · [6] Popov 2021 · [7] Radford 2023 · [8] Saeki 2022. Full references in the report.</a:t>
            </a:r>
            <a:endParaRPr lang="en-US" sz="11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03    APPROACH &amp; DATA</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Classical timing, neural sound</a:t>
            </a:r>
            <a:endParaRPr lang="en-US" sz="2800" dirty="0"/>
          </a:p>
        </p:txBody>
      </p:sp>
      <p:pic>
        <p:nvPicPr>
          <p:cNvPr id="4" name="Image 0" descr="Pipeline diagram">    </p:cNvPr>
          <p:cNvPicPr>
            <a:picLocks noChangeAspect="1"/>
          </p:cNvPicPr>
          <p:nvPr/>
        </p:nvPicPr>
        <p:blipFill>
          <a:blip r:embed="rId1"/>
          <a:stretch>
            <a:fillRect/>
          </a:stretch>
        </p:blipFill>
        <p:spPr>
          <a:xfrm>
            <a:off x="1280160" y="1371600"/>
            <a:ext cx="6583680" cy="2830982"/>
          </a:xfrm>
          <a:prstGeom prst="rect">
            <a:avLst/>
          </a:prstGeom>
        </p:spPr>
      </p:pic>
      <p:sp>
        <p:nvSpPr>
          <p:cNvPr id="5" name="Text 2"/>
          <p:cNvSpPr txBox="1"/>
          <p:nvPr/>
        </p:nvSpPr>
        <p:spPr>
          <a:xfrm>
            <a:off x="685800" y="4389120"/>
            <a:ext cx="7772400" cy="274320"/>
          </a:xfrm>
          <a:prstGeom prst="rect">
            <a:avLst/>
          </a:prstGeom>
          <a:noFill/>
          <a:ln/>
        </p:spPr>
        <p:txBody>
          <a:bodyPr wrap="square" lIns="0" tIns="0" rIns="0" bIns="0" rtlCol="0" anchor="ctr"/>
          <a:lstStyle/>
          <a:p>
            <a:pPr indent="0" marL="0">
              <a:buNone/>
            </a:pPr>
            <a:r>
              <a:rPr lang="en-US" sz="1100" dirty="0">
                <a:solidFill>
                  <a:schemeClr val="accent3"/>
                </a:solidFill>
                <a:latin typeface="Calibri" pitchFamily="34" charset="0"/>
                <a:ea typeface="Calibri" pitchFamily="34" charset="-122"/>
                <a:cs typeface="Calibri" pitchFamily="34" charset="-120"/>
              </a:rPr>
              <a:t>LJSpeech 1.1   ·   13,100 clips, 23.9 h, one speaker   ·   MFA alignment, 0 failures   ·   80-band mels   ·   11,790 / 1,310 split by sentence</a:t>
            </a:r>
            <a:endParaRPr lang="en-US" sz="11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04    AML MODELS</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Two classical models predict the timing</a:t>
            </a:r>
            <a:endParaRPr lang="en-US" sz="2800" dirty="0"/>
          </a:p>
        </p:txBody>
      </p:sp>
      <p:sp>
        <p:nvSpPr>
          <p:cNvPr id="4" name="Text 2"/>
          <p:cNvSpPr txBox="1"/>
          <p:nvPr/>
        </p:nvSpPr>
        <p:spPr>
          <a:xfrm>
            <a:off x="685800" y="1463040"/>
            <a:ext cx="356616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DURATION</a:t>
            </a:r>
            <a:endParaRPr lang="en-US" sz="900" dirty="0"/>
          </a:p>
        </p:txBody>
      </p:sp>
      <p:sp>
        <p:nvSpPr>
          <p:cNvPr id="5" name="Text 3"/>
          <p:cNvSpPr txBox="1"/>
          <p:nvPr/>
        </p:nvSpPr>
        <p:spPr>
          <a:xfrm>
            <a:off x="685800" y="1600200"/>
            <a:ext cx="3566160" cy="914400"/>
          </a:xfrm>
          <a:prstGeom prst="rect">
            <a:avLst/>
          </a:prstGeom>
          <a:noFill/>
          <a:ln/>
        </p:spPr>
        <p:txBody>
          <a:bodyPr wrap="square" lIns="0" tIns="0" rIns="0" bIns="0" rtlCol="0" anchor="b"/>
          <a:lstStyle/>
          <a:p>
            <a:pPr indent="0" marL="0">
              <a:buNone/>
            </a:pPr>
            <a:r>
              <a:rPr lang="en-US" sz="4600" dirty="0">
                <a:solidFill>
                  <a:schemeClr val="accent1"/>
                </a:solidFill>
                <a:latin typeface="Cambria" pitchFamily="34" charset="0"/>
                <a:ea typeface="Cambria" pitchFamily="34" charset="-122"/>
                <a:cs typeface="Cambria" pitchFamily="34" charset="-120"/>
              </a:rPr>
              <a:t>18.3 ms</a:t>
            </a:r>
            <a:endParaRPr lang="en-US" sz="4600" dirty="0"/>
          </a:p>
        </p:txBody>
      </p:sp>
      <p:sp>
        <p:nvSpPr>
          <p:cNvPr id="6" name="Text 4"/>
          <p:cNvSpPr txBox="1"/>
          <p:nvPr/>
        </p:nvSpPr>
        <p:spPr>
          <a:xfrm>
            <a:off x="685800" y="2587752"/>
            <a:ext cx="3566160" cy="50292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mean error per speech sound</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3063240"/>
          <a:ext cx="3383280" cy="914400"/>
        </p:xfrm>
        <a:graphic>
          <a:graphicData uri="http://schemas.openxmlformats.org/drawingml/2006/table">
            <a:tbl>
              <a:tblPr/>
              <a:tblGrid>
                <a:gridCol w="1554480"/>
                <a:gridCol w="914400"/>
                <a:gridCol w="914400"/>
              </a:tblGrid>
              <a:tr h="292608">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MAE</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SPEECH</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PAUSES</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Per-phoneme mean</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28.8 ms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145.6 ms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1F3A5F"/>
                          </a:solidFill>
                          <a:latin typeface="Cambria" pitchFamily="34" charset="0"/>
                          <a:ea typeface="Cambria" pitchFamily="34" charset="-122"/>
                          <a:cs typeface="Cambria" pitchFamily="34" charset="-120"/>
                        </a:rPr>
                        <a:t>LightGBM</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18.3 ms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112.9 ms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bl>
          </a:graphicData>
        </a:graphic>
      </p:graphicFrame>
      <p:sp>
        <p:nvSpPr>
          <p:cNvPr id="8" name="Text 5"/>
          <p:cNvSpPr txBox="1"/>
          <p:nvPr/>
        </p:nvSpPr>
        <p:spPr>
          <a:xfrm>
            <a:off x="4754880" y="1463040"/>
            <a:ext cx="356616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PAUSES</a:t>
            </a:r>
            <a:endParaRPr lang="en-US" sz="900" dirty="0"/>
          </a:p>
        </p:txBody>
      </p:sp>
      <p:sp>
        <p:nvSpPr>
          <p:cNvPr id="9" name="Text 6"/>
          <p:cNvSpPr txBox="1"/>
          <p:nvPr/>
        </p:nvSpPr>
        <p:spPr>
          <a:xfrm>
            <a:off x="4754880" y="1600200"/>
            <a:ext cx="3566160" cy="914400"/>
          </a:xfrm>
          <a:prstGeom prst="rect">
            <a:avLst/>
          </a:prstGeom>
          <a:noFill/>
          <a:ln/>
        </p:spPr>
        <p:txBody>
          <a:bodyPr wrap="square" lIns="0" tIns="0" rIns="0" bIns="0" rtlCol="0" anchor="b"/>
          <a:lstStyle/>
          <a:p>
            <a:pPr indent="0" marL="0">
              <a:buNone/>
            </a:pPr>
            <a:r>
              <a:rPr lang="en-US" sz="4600" dirty="0">
                <a:solidFill>
                  <a:schemeClr val="accent1"/>
                </a:solidFill>
                <a:latin typeface="Cambria" pitchFamily="34" charset="0"/>
                <a:ea typeface="Cambria" pitchFamily="34" charset="-122"/>
                <a:cs typeface="Cambria" pitchFamily="34" charset="-120"/>
              </a:rPr>
              <a:t>64.2%</a:t>
            </a:r>
            <a:endParaRPr lang="en-US" sz="4600" dirty="0"/>
          </a:p>
        </p:txBody>
      </p:sp>
      <p:sp>
        <p:nvSpPr>
          <p:cNvPr id="10" name="Text 7"/>
          <p:cNvSpPr txBox="1"/>
          <p:nvPr/>
        </p:nvSpPr>
        <p:spPr>
          <a:xfrm>
            <a:off x="4754880" y="2587752"/>
            <a:ext cx="3566160" cy="50292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F1 for pause placement</a:t>
            </a:r>
            <a:endParaRPr lang="en-US" sz="14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754880" y="3063240"/>
          <a:ext cx="3383280" cy="914400"/>
        </p:xfrm>
        <a:graphic>
          <a:graphicData uri="http://schemas.openxmlformats.org/drawingml/2006/table">
            <a:tbl>
              <a:tblPr/>
              <a:tblGrid>
                <a:gridCol w="1554480"/>
                <a:gridCol w="914400"/>
                <a:gridCol w="914400"/>
              </a:tblGrid>
              <a:tr h="292608">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PAUSES</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RECALL</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F1</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Punctuation rule</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51.5%</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58.7%</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1F3A5F"/>
                          </a:solidFill>
                          <a:latin typeface="Cambria" pitchFamily="34" charset="0"/>
                          <a:ea typeface="Cambria" pitchFamily="34" charset="-122"/>
                          <a:cs typeface="Cambria" pitchFamily="34" charset="-120"/>
                        </a:rPr>
                        <a:t>LightGBM</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60.6%</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64.2%</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bl>
          </a:graphicData>
        </a:graphic>
      </p:graphicFrame>
      <p:sp>
        <p:nvSpPr>
          <p:cNvPr id="12" name="Text 8"/>
          <p:cNvSpPr txBox="1"/>
          <p:nvPr/>
        </p:nvSpPr>
        <p:spPr>
          <a:xfrm>
            <a:off x="685800" y="4206240"/>
            <a:ext cx="7772400" cy="320040"/>
          </a:xfrm>
          <a:prstGeom prst="rect">
            <a:avLst/>
          </a:prstGeom>
          <a:noFill/>
          <a:ln/>
        </p:spPr>
        <p:txBody>
          <a:bodyPr wrap="square" lIns="0" tIns="0" rIns="0" bIns="0" rtlCol="0" anchor="ctr"/>
          <a:lstStyle/>
          <a:p>
            <a:pPr indent="0" marL="0">
              <a:buNone/>
            </a:pPr>
            <a:r>
              <a:rPr lang="en-US" sz="1500" i="1" dirty="0">
                <a:solidFill>
                  <a:schemeClr val="tx1"/>
                </a:solidFill>
                <a:latin typeface="Cambria" pitchFamily="34" charset="0"/>
                <a:ea typeface="Cambria" pitchFamily="34" charset="-122"/>
                <a:cs typeface="Cambria" pitchFamily="34" charset="-120"/>
              </a:rPr>
              <a:t>Only 56% of pauses longer than 200 ms follow punctuation: readers also pause mid-phrase.</a:t>
            </a:r>
            <a:endParaRPr lang="en-US" sz="15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05    RENDERING</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Two ways to turn timing into sound</a:t>
            </a:r>
            <a:endParaRPr lang="en-US" sz="2800" dirty="0"/>
          </a:p>
        </p:txBody>
      </p:sp>
      <p:sp>
        <p:nvSpPr>
          <p:cNvPr id="4" name="Text 2"/>
          <p:cNvSpPr txBox="1"/>
          <p:nvPr/>
        </p:nvSpPr>
        <p:spPr>
          <a:xfrm>
            <a:off x="685800" y="1554480"/>
            <a:ext cx="3657600" cy="411480"/>
          </a:xfrm>
          <a:prstGeom prst="rect">
            <a:avLst/>
          </a:prstGeom>
          <a:noFill/>
          <a:ln/>
        </p:spPr>
        <p:txBody>
          <a:bodyPr wrap="square" lIns="0" tIns="0" rIns="0" bIns="0" rtlCol="0" anchor="ctr"/>
          <a:lstStyle/>
          <a:p>
            <a:pPr indent="0" marL="0">
              <a:buNone/>
            </a:pPr>
            <a:r>
              <a:rPr lang="en-US" sz="2000" dirty="0">
                <a:solidFill>
                  <a:schemeClr val="tx1"/>
                </a:solidFill>
                <a:latin typeface="Cambria" pitchFamily="34" charset="0"/>
                <a:ea typeface="Cambria" pitchFamily="34" charset="-122"/>
                <a:cs typeface="Cambria" pitchFamily="34" charset="-120"/>
              </a:rPr>
              <a:t>Averaged sounds</a:t>
            </a:r>
            <a:endParaRPr lang="en-US" sz="2000" dirty="0"/>
          </a:p>
        </p:txBody>
      </p:sp>
      <p:sp>
        <p:nvSpPr>
          <p:cNvPr id="5" name="Text 3"/>
          <p:cNvSpPr txBox="1"/>
          <p:nvPr/>
        </p:nvSpPr>
        <p:spPr>
          <a:xfrm>
            <a:off x="685800" y="2011680"/>
            <a:ext cx="3657600" cy="228600"/>
          </a:xfrm>
          <a:prstGeom prst="rect">
            <a:avLst/>
          </a:prstGeom>
          <a:noFill/>
          <a:ln/>
        </p:spPr>
        <p:txBody>
          <a:bodyPr wrap="square" lIns="0" tIns="0" rIns="0" bIns="0" rtlCol="0" anchor="ctr"/>
          <a:lstStyle/>
          <a:p>
            <a:pPr indent="0" marL="0">
              <a:buNone/>
            </a:pPr>
            <a:r>
              <a:rPr lang="en-US" sz="900" spc="200" kern="0" dirty="0">
                <a:solidFill>
                  <a:schemeClr val="accent3"/>
                </a:solidFill>
                <a:latin typeface="Calibri" pitchFamily="34" charset="0"/>
                <a:ea typeface="Calibri" pitchFamily="34" charset="-122"/>
                <a:cs typeface="Calibri" pitchFamily="34" charset="-120"/>
              </a:rPr>
              <a:t>BASELINE (AML ONLY)</a:t>
            </a:r>
            <a:endParaRPr lang="en-US" sz="900" dirty="0"/>
          </a:p>
        </p:txBody>
      </p:sp>
      <p:sp>
        <p:nvSpPr>
          <p:cNvPr id="6" name="Text 4"/>
          <p:cNvSpPr txBox="1"/>
          <p:nvPr/>
        </p:nvSpPr>
        <p:spPr>
          <a:xfrm>
            <a:off x="685800" y="2331720"/>
            <a:ext cx="3566160" cy="10972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Each phoneme becomes its mean spectrogram frame over the training set, repeated for its predicted duration.</a:t>
            </a:r>
            <a:endParaRPr lang="en-US" sz="1300" dirty="0"/>
          </a:p>
        </p:txBody>
      </p:sp>
      <p:sp>
        <p:nvSpPr>
          <p:cNvPr id="7" name="Text 5"/>
          <p:cNvSpPr txBox="1"/>
          <p:nvPr/>
        </p:nvSpPr>
        <p:spPr>
          <a:xfrm>
            <a:off x="4709160" y="1554480"/>
            <a:ext cx="3657600" cy="411480"/>
          </a:xfrm>
          <a:prstGeom prst="rect">
            <a:avLst/>
          </a:prstGeom>
          <a:noFill/>
          <a:ln/>
        </p:spPr>
        <p:txBody>
          <a:bodyPr wrap="square" lIns="0" tIns="0" rIns="0" bIns="0" rtlCol="0" anchor="ctr"/>
          <a:lstStyle/>
          <a:p>
            <a:pPr indent="0" marL="0">
              <a:buNone/>
            </a:pPr>
            <a:r>
              <a:rPr lang="en-US" sz="2000" dirty="0">
                <a:solidFill>
                  <a:schemeClr val="accent1"/>
                </a:solidFill>
                <a:latin typeface="Cambria" pitchFamily="34" charset="0"/>
                <a:ea typeface="Cambria" pitchFamily="34" charset="-122"/>
                <a:cs typeface="Cambria" pitchFamily="34" charset="-120"/>
              </a:rPr>
              <a:t>Neural decoder</a:t>
            </a:r>
            <a:endParaRPr lang="en-US" sz="2000" dirty="0"/>
          </a:p>
        </p:txBody>
      </p:sp>
      <p:sp>
        <p:nvSpPr>
          <p:cNvPr id="8" name="Text 6"/>
          <p:cNvSpPr txBox="1"/>
          <p:nvPr/>
        </p:nvSpPr>
        <p:spPr>
          <a:xfrm>
            <a:off x="4709160" y="2011680"/>
            <a:ext cx="3657600" cy="228600"/>
          </a:xfrm>
          <a:prstGeom prst="rect">
            <a:avLst/>
          </a:prstGeom>
          <a:noFill/>
          <a:ln/>
        </p:spPr>
        <p:txBody>
          <a:bodyPr wrap="square" lIns="0" tIns="0" rIns="0" bIns="0" rtlCol="0" anchor="ctr"/>
          <a:lstStyle/>
          <a:p>
            <a:pPr indent="0" marL="0">
              <a:buNone/>
            </a:pPr>
            <a:r>
              <a:rPr lang="en-US" sz="900" spc="200" kern="0" dirty="0">
                <a:solidFill>
                  <a:schemeClr val="accent3"/>
                </a:solidFill>
                <a:latin typeface="Calibri" pitchFamily="34" charset="0"/>
                <a:ea typeface="Calibri" pitchFamily="34" charset="-122"/>
                <a:cs typeface="Calibri" pitchFamily="34" charset="-120"/>
              </a:rPr>
              <a:t>HYBRID (AML + DL)</a:t>
            </a:r>
            <a:endParaRPr lang="en-US" sz="900" dirty="0"/>
          </a:p>
        </p:txBody>
      </p:sp>
      <p:sp>
        <p:nvSpPr>
          <p:cNvPr id="9" name="Text 7"/>
          <p:cNvSpPr txBox="1"/>
          <p:nvPr/>
        </p:nvSpPr>
        <p:spPr>
          <a:xfrm>
            <a:off x="4709160" y="2331720"/>
            <a:ext cx="3566160" cy="10972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Pretrained FastSpeech2: phonemes are encoded, expanded by our durations, then decoded. Output length equals the sum of our durations exactly.</a:t>
            </a:r>
            <a:endParaRPr lang="en-US" sz="1300" dirty="0"/>
          </a:p>
        </p:txBody>
      </p:sp>
      <p:sp>
        <p:nvSpPr>
          <p:cNvPr id="10" name="note"/>
          <p:cNvSpPr/>
          <p:nvPr/>
        </p:nvSpPr>
        <p:spPr>
          <a:xfrm>
            <a:off x="685800" y="3794760"/>
            <a:ext cx="7772400" cy="685800"/>
          </a:xfrm>
          <a:prstGeom prst="rect">
            <a:avLst/>
          </a:prstGeom>
          <a:solidFill>
            <a:schemeClr val="bg2"/>
          </a:solidFill>
          <a:ln/>
        </p:spPr>
      </p:sp>
      <p:sp>
        <p:nvSpPr>
          <p:cNvPr id="11" name="Text 9"/>
          <p:cNvSpPr txBox="1"/>
          <p:nvPr/>
        </p:nvSpPr>
        <p:spPr>
          <a:xfrm>
            <a:off x="868680" y="3840480"/>
            <a:ext cx="7406640" cy="5943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Input format matters: pauses use the model's spn token and there is no word separator. A space token silently became &lt;unk&gt; and inflated WER from 6.9% to 20.8% on our initial test set.</a:t>
            </a:r>
            <a:endParaRPr lang="en-US" sz="12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06    EVALUATION</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A controlled, leak-free comparison</a:t>
            </a:r>
            <a:endParaRPr lang="en-US" sz="2800" dirty="0"/>
          </a:p>
        </p:txBody>
      </p:sp>
      <p:sp>
        <p:nvSpPr>
          <p:cNvPr id="4" name="Text 2"/>
          <p:cNvSpPr txBox="1"/>
          <p:nvPr/>
        </p:nvSpPr>
        <p:spPr>
          <a:xfrm>
            <a:off x="685800" y="1097280"/>
            <a:ext cx="2377440" cy="914400"/>
          </a:xfrm>
          <a:prstGeom prst="rect">
            <a:avLst/>
          </a:prstGeom>
          <a:noFill/>
          <a:ln/>
        </p:spPr>
        <p:txBody>
          <a:bodyPr wrap="square" lIns="0" tIns="0" rIns="0" bIns="0" rtlCol="0" anchor="b"/>
          <a:lstStyle/>
          <a:p>
            <a:pPr indent="0" marL="0">
              <a:buNone/>
            </a:pPr>
            <a:r>
              <a:rPr lang="en-US" sz="3400" dirty="0">
                <a:solidFill>
                  <a:schemeClr val="tx1"/>
                </a:solidFill>
                <a:latin typeface="Cambria" pitchFamily="34" charset="0"/>
                <a:ea typeface="Cambria" pitchFamily="34" charset="-122"/>
                <a:cs typeface="Cambria" pitchFamily="34" charset="-120"/>
              </a:rPr>
              <a:t>1,327</a:t>
            </a:r>
            <a:endParaRPr lang="en-US" sz="3400" dirty="0"/>
          </a:p>
        </p:txBody>
      </p:sp>
      <p:sp>
        <p:nvSpPr>
          <p:cNvPr id="5" name="Text 3"/>
          <p:cNvSpPr txBox="1"/>
          <p:nvPr/>
        </p:nvSpPr>
        <p:spPr>
          <a:xfrm>
            <a:off x="685800" y="2084832"/>
            <a:ext cx="2377440" cy="50292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held out by SpeechBrain</a:t>
            </a:r>
            <a:endParaRPr lang="en-US" sz="1400" dirty="0"/>
          </a:p>
        </p:txBody>
      </p:sp>
      <p:sp>
        <p:nvSpPr>
          <p:cNvPr id="6" name="Text 4"/>
          <p:cNvSpPr txBox="1"/>
          <p:nvPr/>
        </p:nvSpPr>
        <p:spPr>
          <a:xfrm>
            <a:off x="3429000" y="1097280"/>
            <a:ext cx="2377440" cy="914400"/>
          </a:xfrm>
          <a:prstGeom prst="rect">
            <a:avLst/>
          </a:prstGeom>
          <a:noFill/>
          <a:ln/>
        </p:spPr>
        <p:txBody>
          <a:bodyPr wrap="square" lIns="0" tIns="0" rIns="0" bIns="0" rtlCol="0" anchor="b"/>
          <a:lstStyle/>
          <a:p>
            <a:pPr indent="0" marL="0">
              <a:buNone/>
            </a:pPr>
            <a:r>
              <a:rPr lang="en-US" sz="3400" dirty="0">
                <a:solidFill>
                  <a:schemeClr val="tx1"/>
                </a:solidFill>
                <a:latin typeface="Cambria" pitchFamily="34" charset="0"/>
                <a:ea typeface="Cambria" pitchFamily="34" charset="-122"/>
                <a:cs typeface="Cambria" pitchFamily="34" charset="-120"/>
              </a:rPr>
              <a:t>1,310</a:t>
            </a:r>
            <a:endParaRPr lang="en-US" sz="3400" dirty="0"/>
          </a:p>
        </p:txBody>
      </p:sp>
      <p:sp>
        <p:nvSpPr>
          <p:cNvPr id="7" name="Text 5"/>
          <p:cNvSpPr txBox="1"/>
          <p:nvPr/>
        </p:nvSpPr>
        <p:spPr>
          <a:xfrm>
            <a:off x="3429000" y="2084832"/>
            <a:ext cx="2377440" cy="50292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in our test split</a:t>
            </a:r>
            <a:endParaRPr lang="en-US" sz="1400" dirty="0"/>
          </a:p>
        </p:txBody>
      </p:sp>
      <p:sp>
        <p:nvSpPr>
          <p:cNvPr id="8" name="Text 6"/>
          <p:cNvSpPr txBox="1"/>
          <p:nvPr/>
        </p:nvSpPr>
        <p:spPr>
          <a:xfrm>
            <a:off x="6172200" y="1097280"/>
            <a:ext cx="2377440" cy="914400"/>
          </a:xfrm>
          <a:prstGeom prst="rect">
            <a:avLst/>
          </a:prstGeom>
          <a:noFill/>
          <a:ln/>
        </p:spPr>
        <p:txBody>
          <a:bodyPr wrap="square" lIns="0" tIns="0" rIns="0" bIns="0" rtlCol="0" anchor="b"/>
          <a:lstStyle/>
          <a:p>
            <a:pPr indent="0" marL="0">
              <a:buNone/>
            </a:pPr>
            <a:r>
              <a:rPr lang="en-US" sz="3400" dirty="0">
                <a:solidFill>
                  <a:schemeClr val="accent1"/>
                </a:solidFill>
                <a:latin typeface="Cambria" pitchFamily="34" charset="0"/>
                <a:ea typeface="Cambria" pitchFamily="34" charset="-122"/>
                <a:cs typeface="Cambria" pitchFamily="34" charset="-120"/>
              </a:rPr>
              <a:t>100</a:t>
            </a:r>
            <a:endParaRPr lang="en-US" sz="3400" dirty="0"/>
          </a:p>
        </p:txBody>
      </p:sp>
      <p:sp>
        <p:nvSpPr>
          <p:cNvPr id="9" name="Text 7"/>
          <p:cNvSpPr txBox="1"/>
          <p:nvPr/>
        </p:nvSpPr>
        <p:spPr>
          <a:xfrm>
            <a:off x="6172200" y="2084832"/>
            <a:ext cx="2377440" cy="50292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evaluation sentences</a:t>
            </a:r>
            <a:endParaRPr lang="en-US" sz="1400" dirty="0"/>
          </a:p>
        </p:txBody>
      </p:sp>
      <p:sp>
        <p:nvSpPr>
          <p:cNvPr id="10" name="Text 8"/>
          <p:cNvSpPr txBox="1"/>
          <p:nvPr/>
        </p:nvSpPr>
        <p:spPr>
          <a:xfrm>
            <a:off x="2788920" y="1463040"/>
            <a:ext cx="457200" cy="548640"/>
          </a:xfrm>
          <a:prstGeom prst="rect">
            <a:avLst/>
          </a:prstGeom>
          <a:noFill/>
          <a:ln/>
        </p:spPr>
        <p:txBody>
          <a:bodyPr wrap="square" lIns="0" tIns="0" rIns="0" bIns="0" rtlCol="0" anchor="ctr"/>
          <a:lstStyle/>
          <a:p>
            <a:pPr indent="0" marL="0">
              <a:buNone/>
            </a:pPr>
            <a:r>
              <a:rPr lang="en-US" sz="2400" dirty="0">
                <a:solidFill>
                  <a:schemeClr val="accent3"/>
                </a:solidFill>
                <a:latin typeface="Cambria" pitchFamily="34" charset="0"/>
                <a:ea typeface="Cambria" pitchFamily="34" charset="-122"/>
                <a:cs typeface="Cambria" pitchFamily="34" charset="-120"/>
              </a:rPr>
              <a:t>∩</a:t>
            </a:r>
            <a:endParaRPr lang="en-US" sz="2400" dirty="0"/>
          </a:p>
        </p:txBody>
      </p:sp>
      <p:sp>
        <p:nvSpPr>
          <p:cNvPr id="11" name="Text 9"/>
          <p:cNvSpPr txBox="1"/>
          <p:nvPr/>
        </p:nvSpPr>
        <p:spPr>
          <a:xfrm>
            <a:off x="5532120" y="1463040"/>
            <a:ext cx="457200" cy="548640"/>
          </a:xfrm>
          <a:prstGeom prst="rect">
            <a:avLst/>
          </a:prstGeom>
          <a:noFill/>
          <a:ln/>
        </p:spPr>
        <p:txBody>
          <a:bodyPr wrap="square" lIns="0" tIns="0" rIns="0" bIns="0" rtlCol="0" anchor="ctr"/>
          <a:lstStyle/>
          <a:p>
            <a:pPr indent="0" marL="0">
              <a:buNone/>
            </a:pPr>
            <a:r>
              <a:rPr lang="en-US" sz="2400" dirty="0">
                <a:solidFill>
                  <a:schemeClr val="accent3"/>
                </a:solidFill>
                <a:latin typeface="Cambria" pitchFamily="34" charset="0"/>
                <a:ea typeface="Cambria" pitchFamily="34" charset="-122"/>
                <a:cs typeface="Cambria" pitchFamily="34" charset="-120"/>
              </a:rPr>
              <a:t>→</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2697480"/>
          <a:ext cx="7772400" cy="914400"/>
        </p:xfrm>
        <a:graphic>
          <a:graphicData uri="http://schemas.openxmlformats.org/drawingml/2006/table">
            <a:tbl>
              <a:tblPr/>
              <a:tblGrid>
                <a:gridCol w="1554480"/>
                <a:gridCol w="2103120"/>
                <a:gridCol w="2286000"/>
                <a:gridCol w="1828800"/>
              </a:tblGrid>
              <a:tr h="292608">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SYSTEM</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PAUSES</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DURATIONS</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SOUND</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Baseline</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MFA / MFA / predicted</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MFA / LightGBM / LightGBM</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averaged sounds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1F3A5F"/>
                          </a:solidFill>
                          <a:latin typeface="Cambria" pitchFamily="34" charset="0"/>
                          <a:ea typeface="Cambria" pitchFamily="34" charset="-122"/>
                          <a:cs typeface="Cambria" pitchFamily="34" charset="-120"/>
                        </a:rPr>
                        <a:t>Hybrid (ours)</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MFA / MFA / predicted</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MFA / LightGBM / LightGBM</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FastSpeech2 decoder</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FastSpeech2</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predicted</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its own</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FastSpeech2 decoder</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Ceiling</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real</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real</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real mel → vocoder</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bl>
          </a:graphicData>
        </a:graphic>
      </p:graphicFrame>
      <p:sp>
        <p:nvSpPr>
          <p:cNvPr id="13" name="Text 10"/>
          <p:cNvSpPr txBox="1"/>
          <p:nvPr/>
        </p:nvSpPr>
        <p:spPr>
          <a:xfrm>
            <a:off x="685800" y="4343400"/>
            <a:ext cx="7772400" cy="274320"/>
          </a:xfrm>
          <a:prstGeom prst="rect">
            <a:avLst/>
          </a:prstGeom>
          <a:noFill/>
          <a:ln/>
        </p:spPr>
        <p:txBody>
          <a:bodyPr wrap="square" lIns="0" tIns="0" rIns="0" bIns="0" rtlCol="0" anchor="ctr"/>
          <a:lstStyle/>
          <a:p>
            <a:pPr indent="0" marL="0">
              <a:buNone/>
            </a:pPr>
            <a:r>
              <a:rPr lang="en-US" sz="1100" dirty="0">
                <a:solidFill>
                  <a:schemeClr val="accent3"/>
                </a:solidFill>
                <a:latin typeface="Calibri" pitchFamily="34" charset="0"/>
                <a:ea typeface="Calibri" pitchFamily="34" charset="-122"/>
                <a:cs typeface="Calibri" pitchFamily="34" charset="-120"/>
              </a:rPr>
              <a:t>Metrics: WER (Whisper), UTMOS naturalness, duration MAE, 95% paired bootstrap CIs, blind A/B test. Fine-tuned variants of every neural system.</a:t>
            </a:r>
            <a:endParaRPr lang="en-US" sz="11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07    MAIN RESULT</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Same timing. Different sound.</a:t>
            </a:r>
            <a:endParaRPr lang="en-US" sz="2800" dirty="0"/>
          </a:p>
        </p:txBody>
      </p:sp>
      <p:sp>
        <p:nvSpPr>
          <p:cNvPr id="4" name="Text 2"/>
          <p:cNvSpPr txBox="1"/>
          <p:nvPr/>
        </p:nvSpPr>
        <p:spPr>
          <a:xfrm>
            <a:off x="4800600" y="411480"/>
            <a:ext cx="3657600" cy="228600"/>
          </a:xfrm>
          <a:prstGeom prst="rect">
            <a:avLst/>
          </a:prstGeom>
          <a:noFill/>
          <a:ln/>
        </p:spPr>
        <p:txBody>
          <a:bodyPr wrap="square" lIns="0" tIns="0" rIns="0" bIns="0" rtlCol="0" anchor="ctr"/>
          <a:lstStyle/>
          <a:p>
            <a:pPr algn="r" indent="0" marL="0">
              <a:buNone/>
            </a:pPr>
            <a:r>
              <a:rPr lang="en-US" sz="900" spc="300" kern="0" dirty="0">
                <a:solidFill>
                  <a:schemeClr val="accent1"/>
                </a:solidFill>
                <a:latin typeface="Calibri" pitchFamily="34" charset="0"/>
                <a:ea typeface="Calibri" pitchFamily="34" charset="-122"/>
                <a:cs typeface="Calibri" pitchFamily="34" charset="-120"/>
              </a:rPr>
              <a:t>H1  ·  SUPPORTED</a:t>
            </a:r>
            <a:endParaRPr lang="en-US" sz="900" dirty="0"/>
          </a:p>
        </p:txBody>
      </p:sp>
      <p:graphicFrame>
        <p:nvGraphicFramePr>
          <p:cNvPr id="5" name="Chart 0" descr=""/>
          <p:cNvGraphicFramePr/>
          <p:nvPr/>
        </p:nvGraphicFramePr>
        <p:xfrm>
          <a:off x="685800" y="1508760"/>
          <a:ext cx="7772400" cy="26060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85800" y="4297680"/>
            <a:ext cx="7772400" cy="274320"/>
          </a:xfrm>
          <a:prstGeom prst="rect">
            <a:avLst/>
          </a:prstGeom>
          <a:noFill/>
          <a:ln/>
        </p:spPr>
        <p:txBody>
          <a:bodyPr wrap="square" lIns="0" tIns="0" rIns="0" bIns="0" rtlCol="0" anchor="ctr"/>
          <a:lstStyle/>
          <a:p>
            <a:pPr indent="0" marL="0">
              <a:buNone/>
            </a:pPr>
            <a:r>
              <a:rPr lang="en-US" sz="1100" dirty="0">
                <a:solidFill>
                  <a:schemeClr val="accent3"/>
                </a:solidFill>
                <a:latin typeface="Calibri" pitchFamily="34" charset="0"/>
                <a:ea typeface="Calibri" pitchFamily="34" charset="-122"/>
                <a:cs typeface="Calibri" pitchFamily="34" charset="-120"/>
              </a:rPr>
              <a:t>Word error rate, lower is better. Ours and the baseline share identical text-only timing; paired difference −37.9 to −29.4 points.</a:t>
            </a:r>
            <a:endParaRPr lang="en-US" sz="11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08    RESULTS</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Intelligibility, naturalness and listeners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463040"/>
          <a:ext cx="5120640" cy="914400"/>
        </p:xfrm>
        <a:graphic>
          <a:graphicData uri="http://schemas.openxmlformats.org/drawingml/2006/table">
            <a:tbl>
              <a:tblPr/>
              <a:tblGrid>
                <a:gridCol w="2377440"/>
                <a:gridCol w="1828800"/>
                <a:gridCol w="914400"/>
              </a:tblGrid>
              <a:tr h="292608">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TEXT-ONLY TIMING</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WER [95% CI]</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UTMOS</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Recording</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2.0%  [1.2, 3.0]</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4.37</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Ceiling: real mel</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2.2%  [1.4, 3.0]</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4.08</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1F3A5F"/>
                          </a:solidFill>
                          <a:latin typeface="Cambria" pitchFamily="34" charset="0"/>
                          <a:ea typeface="Cambria" pitchFamily="34" charset="-122"/>
                          <a:cs typeface="Cambria" pitchFamily="34" charset="-120"/>
                        </a:rPr>
                        <a:t>Hybrid (ours)</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3.1%  [2.0, 4.3]</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1F3A5F"/>
                          </a:solidFill>
                          <a:latin typeface="Calibri" pitchFamily="34" charset="0"/>
                          <a:ea typeface="Calibri" pitchFamily="34" charset="-122"/>
                          <a:cs typeface="Calibri" pitchFamily="34" charset="-120"/>
                        </a:rPr>
                        <a:t>3.70</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FastSpeech2, own durations</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5.3%  [3.8, 7.1]</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3.74</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Hybrid, fine-tuned</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3.6%  [2.5, 5.0]</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3.27</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FastSpeech2, fine-tuned</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5.5%  [4.0, 7.4]</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3.28</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Baseline</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36.6%  [32.3, 41.1]</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1.24</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bl>
          </a:graphicData>
        </a:graphic>
      </p:graphicFrame>
      <p:sp>
        <p:nvSpPr>
          <p:cNvPr id="5" name="Text 2"/>
          <p:cNvSpPr txBox="1"/>
          <p:nvPr/>
        </p:nvSpPr>
        <p:spPr>
          <a:xfrm>
            <a:off x="6263640" y="1463040"/>
            <a:ext cx="219456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BLIND A/B TEST</a:t>
            </a:r>
            <a:endParaRPr lang="en-US" sz="900" dirty="0"/>
          </a:p>
        </p:txBody>
      </p:sp>
      <p:sp>
        <p:nvSpPr>
          <p:cNvPr id="6" name="Text 3"/>
          <p:cNvSpPr txBox="1"/>
          <p:nvPr/>
        </p:nvSpPr>
        <p:spPr>
          <a:xfrm>
            <a:off x="6263640" y="1600200"/>
            <a:ext cx="2194560" cy="914400"/>
          </a:xfrm>
          <a:prstGeom prst="rect">
            <a:avLst/>
          </a:prstGeom>
          <a:noFill/>
          <a:ln/>
        </p:spPr>
        <p:txBody>
          <a:bodyPr wrap="square" lIns="0" tIns="0" rIns="0" bIns="0" rtlCol="0" anchor="b"/>
          <a:lstStyle/>
          <a:p>
            <a:pPr indent="0" marL="0">
              <a:buNone/>
            </a:pPr>
            <a:r>
              <a:rPr lang="en-US" sz="4000" dirty="0">
                <a:solidFill>
                  <a:schemeClr val="accent1"/>
                </a:solidFill>
                <a:latin typeface="Cambria" pitchFamily="34" charset="0"/>
                <a:ea typeface="Cambria" pitchFamily="34" charset="-122"/>
                <a:cs typeface="Cambria" pitchFamily="34" charset="-120"/>
              </a:rPr>
              <a:t>67 / 70</a:t>
            </a:r>
            <a:endParaRPr lang="en-US" sz="4000" dirty="0"/>
          </a:p>
        </p:txBody>
      </p:sp>
      <p:sp>
        <p:nvSpPr>
          <p:cNvPr id="7" name="Text 4"/>
          <p:cNvSpPr txBox="1"/>
          <p:nvPr/>
        </p:nvSpPr>
        <p:spPr>
          <a:xfrm>
            <a:off x="6263640" y="2587752"/>
            <a:ext cx="2194560" cy="50292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judgements preferred the neural system; baseline never</a:t>
            </a:r>
            <a:endParaRPr lang="en-US" sz="1400" dirty="0"/>
          </a:p>
        </p:txBody>
      </p:sp>
      <p:sp>
        <p:nvSpPr>
          <p:cNvPr id="8" name="Text 5"/>
          <p:cNvSpPr txBox="1"/>
          <p:nvPr/>
        </p:nvSpPr>
        <p:spPr>
          <a:xfrm>
            <a:off x="6263640" y="3200400"/>
            <a:ext cx="219456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Clarity 4.1 vs 1.7 out of 5, 7 listeners</a:t>
            </a:r>
            <a:endParaRPr lang="en-US" sz="1200" dirty="0"/>
          </a:p>
        </p:txBody>
      </p:sp>
      <p:sp>
        <p:nvSpPr>
          <p:cNvPr id="9" name="Text 6"/>
          <p:cNvSpPr txBox="1"/>
          <p:nvPr/>
        </p:nvSpPr>
        <p:spPr>
          <a:xfrm>
            <a:off x="685800" y="4206240"/>
            <a:ext cx="7772400" cy="274320"/>
          </a:xfrm>
          <a:prstGeom prst="rect">
            <a:avLst/>
          </a:prstGeom>
          <a:noFill/>
          <a:ln/>
        </p:spPr>
        <p:txBody>
          <a:bodyPr wrap="square" lIns="0" tIns="0" rIns="0" bIns="0" rtlCol="0" anchor="ctr"/>
          <a:lstStyle/>
          <a:p>
            <a:pPr indent="0" marL="0">
              <a:buNone/>
            </a:pPr>
            <a:r>
              <a:rPr lang="en-US" sz="1100" dirty="0">
                <a:solidFill>
                  <a:schemeClr val="accent3"/>
                </a:solidFill>
                <a:latin typeface="Calibri" pitchFamily="34" charset="0"/>
                <a:ea typeface="Calibri" pitchFamily="34" charset="-122"/>
                <a:cs typeface="Calibri" pitchFamily="34" charset="-120"/>
              </a:rPr>
              <a:t>Hybrid vs FastSpeech2 naturalness: −0.03 [−0.09, +0.03], not significant. A/B test ran on an earlier neural version: a conservative estimate.</a:t>
            </a:r>
            <a:endParaRPr lang="en-US" sz="11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09    KEY FINDING</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Explicit timing improves the neural model</a:t>
            </a:r>
            <a:endParaRPr lang="en-US" sz="2800" dirty="0"/>
          </a:p>
        </p:txBody>
      </p:sp>
      <p:sp>
        <p:nvSpPr>
          <p:cNvPr id="4" name="Text 2"/>
          <p:cNvSpPr txBox="1"/>
          <p:nvPr/>
        </p:nvSpPr>
        <p:spPr>
          <a:xfrm>
            <a:off x="4800600" y="411480"/>
            <a:ext cx="3657600" cy="228600"/>
          </a:xfrm>
          <a:prstGeom prst="rect">
            <a:avLst/>
          </a:prstGeom>
          <a:noFill/>
          <a:ln/>
        </p:spPr>
        <p:txBody>
          <a:bodyPr wrap="square" lIns="0" tIns="0" rIns="0" bIns="0" rtlCol="0" anchor="ctr"/>
          <a:lstStyle/>
          <a:p>
            <a:pPr algn="r" indent="0" marL="0">
              <a:buNone/>
            </a:pPr>
            <a:r>
              <a:rPr lang="en-US" sz="900" spc="300" kern="0" dirty="0">
                <a:solidFill>
                  <a:schemeClr val="accent1"/>
                </a:solidFill>
                <a:latin typeface="Calibri" pitchFamily="34" charset="0"/>
                <a:ea typeface="Calibri" pitchFamily="34" charset="-122"/>
                <a:cs typeface="Calibri" pitchFamily="34" charset="-120"/>
              </a:rPr>
              <a:t>H2  ·  SUPPORTED</a:t>
            </a:r>
            <a:endParaRPr lang="en-US" sz="900" dirty="0"/>
          </a:p>
        </p:txBody>
      </p:sp>
      <p:sp>
        <p:nvSpPr>
          <p:cNvPr id="5" name="Text 3"/>
          <p:cNvSpPr txBox="1"/>
          <p:nvPr/>
        </p:nvSpPr>
        <p:spPr>
          <a:xfrm>
            <a:off x="685800" y="1600200"/>
            <a:ext cx="2926080" cy="914400"/>
          </a:xfrm>
          <a:prstGeom prst="rect">
            <a:avLst/>
          </a:prstGeom>
          <a:noFill/>
          <a:ln/>
        </p:spPr>
        <p:txBody>
          <a:bodyPr wrap="square" lIns="0" tIns="0" rIns="0" bIns="0" rtlCol="0" anchor="b"/>
          <a:lstStyle/>
          <a:p>
            <a:pPr indent="0" marL="0">
              <a:buNone/>
            </a:pPr>
            <a:r>
              <a:rPr lang="en-US" sz="6600" dirty="0">
                <a:solidFill>
                  <a:schemeClr val="accent5"/>
                </a:solidFill>
                <a:latin typeface="Cambria" pitchFamily="34" charset="0"/>
                <a:ea typeface="Cambria" pitchFamily="34" charset="-122"/>
                <a:cs typeface="Cambria" pitchFamily="34" charset="-120"/>
              </a:rPr>
              <a:t>5.3%</a:t>
            </a:r>
            <a:endParaRPr lang="en-US" sz="6600" dirty="0"/>
          </a:p>
        </p:txBody>
      </p:sp>
      <p:sp>
        <p:nvSpPr>
          <p:cNvPr id="6" name="Text 4"/>
          <p:cNvSpPr txBox="1"/>
          <p:nvPr/>
        </p:nvSpPr>
        <p:spPr>
          <a:xfrm>
            <a:off x="685800" y="2587752"/>
            <a:ext cx="2926080" cy="50292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WER, model's own durations</a:t>
            </a:r>
            <a:endParaRPr lang="en-US" sz="1400" dirty="0"/>
          </a:p>
        </p:txBody>
      </p:sp>
      <p:sp>
        <p:nvSpPr>
          <p:cNvPr id="7" name="arrow"/>
          <p:cNvSpPr/>
          <p:nvPr/>
        </p:nvSpPr>
        <p:spPr>
          <a:xfrm>
            <a:off x="3520440" y="2240280"/>
            <a:ext cx="1097280" cy="0"/>
          </a:xfrm>
          <a:prstGeom prst="line">
            <a:avLst/>
          </a:prstGeom>
          <a:noFill/>
          <a:ln w="12700">
            <a:solidFill>
              <a:schemeClr val="accent4"/>
            </a:solidFill>
            <a:prstDash val="solid"/>
            <a:tailEnd type="triangle"/>
          </a:ln>
        </p:spPr>
      </p:sp>
      <p:sp>
        <p:nvSpPr>
          <p:cNvPr id="8" name="Text 6"/>
          <p:cNvSpPr txBox="1"/>
          <p:nvPr/>
        </p:nvSpPr>
        <p:spPr>
          <a:xfrm>
            <a:off x="4892040" y="1600200"/>
            <a:ext cx="3291840" cy="914400"/>
          </a:xfrm>
          <a:prstGeom prst="rect">
            <a:avLst/>
          </a:prstGeom>
          <a:noFill/>
          <a:ln/>
        </p:spPr>
        <p:txBody>
          <a:bodyPr wrap="square" lIns="0" tIns="0" rIns="0" bIns="0" rtlCol="0" anchor="b"/>
          <a:lstStyle/>
          <a:p>
            <a:pPr indent="0" marL="0">
              <a:buNone/>
            </a:pPr>
            <a:r>
              <a:rPr lang="en-US" sz="6600" dirty="0">
                <a:solidFill>
                  <a:schemeClr val="accent1"/>
                </a:solidFill>
                <a:latin typeface="Cambria" pitchFamily="34" charset="0"/>
                <a:ea typeface="Cambria" pitchFamily="34" charset="-122"/>
                <a:cs typeface="Cambria" pitchFamily="34" charset="-120"/>
              </a:rPr>
              <a:t>3.1%</a:t>
            </a:r>
            <a:endParaRPr lang="en-US" sz="6600" dirty="0"/>
          </a:p>
        </p:txBody>
      </p:sp>
      <p:sp>
        <p:nvSpPr>
          <p:cNvPr id="9" name="Text 7"/>
          <p:cNvSpPr txBox="1"/>
          <p:nvPr/>
        </p:nvSpPr>
        <p:spPr>
          <a:xfrm>
            <a:off x="4892040" y="2587752"/>
            <a:ext cx="3291840" cy="50292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WER, our durations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3246120"/>
          <a:ext cx="7772400" cy="914400"/>
        </p:xfrm>
        <a:graphic>
          <a:graphicData uri="http://schemas.openxmlformats.org/drawingml/2006/table">
            <a:tbl>
              <a:tblPr/>
              <a:tblGrid>
                <a:gridCol w="2926080"/>
                <a:gridCol w="1280160"/>
                <a:gridCol w="1463040"/>
                <a:gridCol w="2103120"/>
              </a:tblGrid>
              <a:tr h="292608">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SAME PHONEMES, PAUSES AND DECODER</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OURS</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FASTSPEECH2</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PAIRED DIFFERENCE</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WER</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−3.6 to −0.9 pts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UTMOS</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3.70</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3.74</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n.s.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100" dirty="0">
                          <a:solidFill>
                            <a:srgbClr val="222222"/>
                          </a:solidFill>
                          <a:latin typeface="Cambria" pitchFamily="34" charset="0"/>
                          <a:ea typeface="Cambria" pitchFamily="34" charset="-122"/>
                          <a:cs typeface="Cambria" pitchFamily="34" charset="-120"/>
                        </a:rPr>
                        <a:t>Duration MAE</a:t>
                      </a:r>
                      <a:endParaRPr lang="en-US" sz="11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17.8 ms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23.2 ms</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10    ANALYSIS</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Timing without timbre</a:t>
            </a:r>
            <a:endParaRPr lang="en-US" sz="2800" dirty="0"/>
          </a:p>
        </p:txBody>
      </p:sp>
      <p:pic>
        <p:nvPicPr>
          <p:cNvPr id="4" name="Image 0" descr="Spectrograms of the recording, our system and the baseline">    </p:cNvPr>
          <p:cNvPicPr>
            <a:picLocks noChangeAspect="1"/>
          </p:cNvPicPr>
          <p:nvPr/>
        </p:nvPicPr>
        <p:blipFill>
          <a:blip r:embed="rId1"/>
          <a:stretch>
            <a:fillRect/>
          </a:stretch>
        </p:blipFill>
        <p:spPr>
          <a:xfrm>
            <a:off x="685800" y="1417320"/>
            <a:ext cx="4297680" cy="3223260"/>
          </a:xfrm>
          <a:prstGeom prst="rect">
            <a:avLst/>
          </a:prstGeom>
        </p:spPr>
      </p:pic>
      <p:sp>
        <p:nvSpPr>
          <p:cNvPr id="5" name="Text 2"/>
          <p:cNvSpPr txBox="1"/>
          <p:nvPr/>
        </p:nvSpPr>
        <p:spPr>
          <a:xfrm>
            <a:off x="5349240" y="1737360"/>
            <a:ext cx="3108960" cy="8229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The recording and our system show curved stripes: pitch harmonics and smooth transitions.</a:t>
            </a:r>
            <a:endParaRPr lang="en-US" sz="1400" dirty="0"/>
          </a:p>
        </p:txBody>
      </p:sp>
      <p:sp>
        <p:nvSpPr>
          <p:cNvPr id="6" name="Text 3"/>
          <p:cNvSpPr txBox="1"/>
          <p:nvPr/>
        </p:nvSpPr>
        <p:spPr>
          <a:xfrm>
            <a:off x="5349240" y="2697480"/>
            <a:ext cx="3108960" cy="8229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The baseline is flat blocks. Averaging a sound across many pitches erases its harmonics.</a:t>
            </a:r>
            <a:endParaRPr lang="en-US" sz="1400" dirty="0"/>
          </a:p>
        </p:txBody>
      </p:sp>
      <p:sp>
        <p:nvSpPr>
          <p:cNvPr id="7" name="Text 4"/>
          <p:cNvSpPr txBox="1"/>
          <p:nvPr/>
        </p:nvSpPr>
        <p:spPr>
          <a:xfrm>
            <a:off x="5349240" y="3657600"/>
            <a:ext cx="3108960" cy="36576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Rhythm survives. Voice does not.</a:t>
            </a:r>
            <a:endParaRPr lang="en-US" sz="16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11480"/>
            <a:ext cx="5486400" cy="228600"/>
          </a:xfrm>
          <a:prstGeom prst="rect">
            <a:avLst/>
          </a:prstGeom>
          <a:noFill/>
          <a:ln/>
        </p:spPr>
        <p:txBody>
          <a:bodyPr wrap="square" lIns="0" tIns="0" rIns="0" bIns="0" rtlCol="0" anchor="ctr"/>
          <a:lstStyle/>
          <a:p>
            <a:pPr indent="0" marL="0">
              <a:buNone/>
            </a:pPr>
            <a:r>
              <a:rPr lang="en-US" sz="900" spc="300" kern="0" dirty="0">
                <a:solidFill>
                  <a:schemeClr val="accent3"/>
                </a:solidFill>
                <a:latin typeface="Calibri" pitchFamily="34" charset="0"/>
                <a:ea typeface="Calibri" pitchFamily="34" charset="-122"/>
                <a:cs typeface="Calibri" pitchFamily="34" charset="-120"/>
              </a:rPr>
              <a:t>11    FINE-TUNING</a:t>
            </a:r>
            <a:endParaRPr lang="en-US" sz="900" dirty="0"/>
          </a:p>
        </p:txBody>
      </p:sp>
      <p:sp>
        <p:nvSpPr>
          <p:cNvPr id="3" name="Text 0"/>
          <p:cNvSpPr/>
          <p:nvPr>
            <p:ph idx="100" type="title" hasCustomPrompt="1"/>
          </p:nvPr>
        </p:nvSpPr>
        <p:spPr>
          <a:xfrm>
            <a:off x="685800" y="713232"/>
            <a:ext cx="7772400" cy="685800"/>
          </a:xfrm>
          <a:prstGeom prst="rect">
            <a:avLst/>
          </a:prstGeom>
          <a:noFill/>
          <a:ln/>
        </p:spPr>
        <p:txBody>
          <a:bodyPr wrap="square" lIns="0" tIns="0" rIns="0" bIns="0" rtlCol="0" anchor="t"/>
          <a:lstStyle/>
          <a:p>
            <a:pPr algn="l" indent="0" marL="0">
              <a:buNone/>
            </a:pPr>
            <a:r>
              <a:rPr lang="en-US" sz="2800" dirty="0">
                <a:solidFill>
                  <a:schemeClr val="tx1"/>
                </a:solidFill>
                <a:latin typeface="Cambria" pitchFamily="34" charset="0"/>
                <a:ea typeface="Cambria" pitchFamily="34" charset="-122"/>
                <a:cs typeface="Cambria" pitchFamily="34" charset="-120"/>
              </a:rPr>
              <a:t>Lower loss, less natural speech</a:t>
            </a:r>
            <a:endParaRPr lang="en-US" sz="2800" dirty="0"/>
          </a:p>
        </p:txBody>
      </p:sp>
      <p:sp>
        <p:nvSpPr>
          <p:cNvPr id="4" name="Text 2"/>
          <p:cNvSpPr txBox="1"/>
          <p:nvPr/>
        </p:nvSpPr>
        <p:spPr>
          <a:xfrm>
            <a:off x="4800600" y="411480"/>
            <a:ext cx="3657600" cy="228600"/>
          </a:xfrm>
          <a:prstGeom prst="rect">
            <a:avLst/>
          </a:prstGeom>
          <a:noFill/>
          <a:ln/>
        </p:spPr>
        <p:txBody>
          <a:bodyPr wrap="square" lIns="0" tIns="0" rIns="0" bIns="0" rtlCol="0" anchor="ctr"/>
          <a:lstStyle/>
          <a:p>
            <a:pPr algn="r" indent="0" marL="0">
              <a:buNone/>
            </a:pPr>
            <a:r>
              <a:rPr lang="en-US" sz="900" spc="300" kern="0" dirty="0">
                <a:solidFill>
                  <a:schemeClr val="accent1"/>
                </a:solidFill>
                <a:latin typeface="Calibri" pitchFamily="34" charset="0"/>
                <a:ea typeface="Calibri" pitchFamily="34" charset="-122"/>
                <a:cs typeface="Calibri" pitchFamily="34" charset="-120"/>
              </a:rPr>
              <a:t>H3  ·  SUPPORTED, WITH A COST</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508760"/>
          <a:ext cx="7772400" cy="914400"/>
        </p:xfrm>
        <a:graphic>
          <a:graphicData uri="http://schemas.openxmlformats.org/drawingml/2006/table">
            <a:tbl>
              <a:tblPr/>
              <a:tblGrid>
                <a:gridCol w="2926080"/>
                <a:gridCol w="1463040"/>
                <a:gridCol w="1463040"/>
                <a:gridCol w="1920240"/>
              </a:tblGrid>
              <a:tr h="292608">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PRETRAINED</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FINE-TUNED</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900" spc="100" kern="0" dirty="0">
                          <a:solidFill>
                            <a:srgbClr val="7A7F87"/>
                          </a:solidFill>
                          <a:latin typeface="Calibri" pitchFamily="34" charset="0"/>
                          <a:ea typeface="Calibri" pitchFamily="34" charset="-122"/>
                          <a:cs typeface="Calibri" pitchFamily="34" charset="-120"/>
                        </a:rPr>
                        <a:t>CHANGE</a:t>
                      </a:r>
                      <a:endParaRPr lang="en-US" sz="900" dirty="0">
                        <a:latin typeface="Calibri" charset="0"/>
                        <a:ea typeface="Calibri" charset="0"/>
                        <a:cs typeface="Calibri" charset="0"/>
                      </a:endParaRPr>
                    </a:p>
                  </a:txBody>
                  <a:tcPr marL="0" marR="50800" marT="25400" marB="25400" anchor="b">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300" dirty="0">
                          <a:solidFill>
                            <a:srgbClr val="222222"/>
                          </a:solidFill>
                          <a:latin typeface="Cambria" pitchFamily="34" charset="0"/>
                          <a:ea typeface="Cambria" pitchFamily="34" charset="-122"/>
                          <a:cs typeface="Cambria" pitchFamily="34" charset="-120"/>
                        </a:rPr>
                        <a:t>Dev mel L1</a:t>
                      </a:r>
                      <a:endParaRPr lang="en-US" sz="13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0.754</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0.617</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300" dirty="0">
                          <a:solidFill>
                            <a:srgbClr val="1F3A5F"/>
                          </a:solidFill>
                          <a:latin typeface="Cambria" pitchFamily="34" charset="0"/>
                          <a:ea typeface="Cambria" pitchFamily="34" charset="-122"/>
                          <a:cs typeface="Cambria" pitchFamily="34" charset="-120"/>
                        </a:rPr>
                        <a:t>WER, raw MFA timing</a:t>
                      </a:r>
                      <a:endParaRPr lang="en-US" sz="13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3A5F"/>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3A5F"/>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1F3A5F"/>
                          </a:solidFill>
                          <a:latin typeface="Calibri" pitchFamily="34" charset="0"/>
                          <a:ea typeface="Calibri" pitchFamily="34" charset="-122"/>
                          <a:cs typeface="Calibri" pitchFamily="34" charset="-120"/>
                        </a:rPr>
                        <a:t>−2.5 to −0.6 pts</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300" dirty="0">
                          <a:solidFill>
                            <a:srgbClr val="222222"/>
                          </a:solidFill>
                          <a:latin typeface="Cambria" pitchFamily="34" charset="0"/>
                          <a:ea typeface="Cambria" pitchFamily="34" charset="-122"/>
                          <a:cs typeface="Cambria" pitchFamily="34" charset="-120"/>
                        </a:rPr>
                        <a:t>WER, text-only hybrid</a:t>
                      </a:r>
                      <a:endParaRPr lang="en-US" sz="13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+0.1 to +1.2 pts</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r h="292608">
                <a:tc>
                  <a:txBody>
                    <a:bodyPr/>
                    <a:lstStyle/>
                    <a:p>
                      <a:pPr indent="0" marL="0">
                        <a:buNone/>
                      </a:pPr>
                      <a:r>
                        <a:rPr lang="en-US" sz="1300" dirty="0">
                          <a:solidFill>
                            <a:srgbClr val="222222"/>
                          </a:solidFill>
                          <a:latin typeface="Cambria" pitchFamily="34" charset="0"/>
                          <a:ea typeface="Cambria" pitchFamily="34" charset="-122"/>
                          <a:cs typeface="Cambria" pitchFamily="34" charset="-120"/>
                        </a:rPr>
                        <a:t>UTMOS, text-only hybrid</a:t>
                      </a:r>
                      <a:endParaRPr lang="en-US" sz="1300" dirty="0">
                        <a:latin typeface="Cambria" charset="0"/>
                        <a:ea typeface="Cambria" charset="0"/>
                        <a:cs typeface="Cambria"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3.70</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3.27</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−0.48 to −0.38</a:t>
                      </a:r>
                      <a:endParaRPr lang="en-US" sz="1300" dirty="0">
                        <a:latin typeface="Calibri" charset="0"/>
                        <a:ea typeface="Calibri" charset="0"/>
                        <a:cs typeface="Calibri" charset="0"/>
                      </a:endParaRPr>
                    </a:p>
                  </a:txBody>
                  <a:tcPr marL="0" marR="50800" marT="25400" marB="25400">
                    <a:lnL w="0" cap="flat" cmpd="sng" algn="ctr">
                      <a:noFill/>
                    </a:lnL>
                    <a:lnR w="0" cap="flat" cmpd="sng" algn="ctr">
                      <a:noFill/>
                    </a:lnR>
                    <a:lnT w="0" cap="flat" cmpd="sng" algn="ctr">
                      <a:noFill/>
                    </a:lnT>
                    <a:lnB w="9525" cap="flat" cmpd="sng" algn="ctr">
                      <a:solidFill>
                        <a:srgbClr val="C9CDD3"/>
                      </a:solidFill>
                      <a:prstDash val="solid"/>
                      <a:round/>
                      <a:headEnd type="none" w="med" len="med"/>
                      <a:tailEnd type="none" w="med" len="med"/>
                    </a:lnB>
                  </a:tcPr>
                </a:tc>
              </a:tr>
            </a:tbl>
          </a:graphicData>
        </a:graphic>
      </p:graphicFrame>
      <p:sp>
        <p:nvSpPr>
          <p:cNvPr id="6" name="Text 3"/>
          <p:cNvSpPr txBox="1"/>
          <p:nvPr/>
        </p:nvSpPr>
        <p:spPr>
          <a:xfrm>
            <a:off x="685800" y="3291840"/>
            <a:ext cx="7772400" cy="320040"/>
          </a:xfrm>
          <a:prstGeom prst="rect">
            <a:avLst/>
          </a:prstGeom>
          <a:noFill/>
          <a:ln/>
        </p:spPr>
        <p:txBody>
          <a:bodyPr wrap="square" lIns="0" tIns="0" rIns="0" bIns="0" rtlCol="0" anchor="ctr"/>
          <a:lstStyle/>
          <a:p>
            <a:pPr indent="0" marL="0">
              <a:buNone/>
            </a:pPr>
            <a:r>
              <a:rPr lang="en-US" sz="1500" i="1" dirty="0">
                <a:solidFill>
                  <a:schemeClr val="tx1"/>
                </a:solidFill>
                <a:latin typeface="Cambria" pitchFamily="34" charset="0"/>
                <a:ea typeface="Cambria" pitchFamily="34" charset="-122"/>
                <a:cs typeface="Cambria" pitchFamily="34" charset="-120"/>
              </a:rPr>
              <a:t>Minimising average error pulls output towards an average spectrogram: over-smoothing.</a:t>
            </a:r>
            <a:endParaRPr lang="en-US" sz="1500" dirty="0"/>
          </a:p>
        </p:txBody>
      </p:sp>
      <p:sp>
        <p:nvSpPr>
          <p:cNvPr id="7" name="Text 4"/>
          <p:cNvSpPr txBox="1"/>
          <p:nvPr/>
        </p:nvSpPr>
        <p:spPr>
          <a:xfrm>
            <a:off x="685800" y="3794760"/>
            <a:ext cx="7772400" cy="274320"/>
          </a:xfrm>
          <a:prstGeom prst="rect">
            <a:avLst/>
          </a:prstGeom>
          <a:noFill/>
          <a:ln/>
        </p:spPr>
        <p:txBody>
          <a:bodyPr wrap="square" lIns="0" tIns="0" rIns="0" bIns="0" rtlCol="0" anchor="ctr"/>
          <a:lstStyle/>
          <a:p>
            <a:pPr indent="0" marL="0">
              <a:buNone/>
            </a:pPr>
            <a:r>
              <a:rPr lang="en-US" sz="1100" dirty="0">
                <a:solidFill>
                  <a:schemeClr val="accent3"/>
                </a:solidFill>
                <a:latin typeface="Calibri" pitchFamily="34" charset="0"/>
                <a:ea typeface="Calibri" pitchFamily="34" charset="-122"/>
                <a:cs typeface="Calibri" pitchFamily="34" charset="-120"/>
              </a:rPr>
              <a:t>Setup: decoder, output layer and postnet trained (22.5M of 43.3M params) on our split with our MFA durations; L1 loss, AdamW 5e-5, 6 epochs on a T4. Raw MFA timing has 15× more ultra-short phonemes.</a:t>
            </a:r>
            <a:endParaRPr lang="en-US" sz="1100" dirty="0"/>
          </a:p>
        </p:txBody>
      </p:sp>
      <p:sp>
        <p:nvSpPr>
          <p:cNvPr id="25" name="Slide Number Placeholder 0"/>
          <p:cNvSpPr>
            <a:spLocks noGrp="1"/>
          </p:cNvSpPr>
          <p:nvPr>
            <p:ph type="sldNum" sz="quarter" idx="4294967295"/>
          </p:nvPr>
        </p:nvSpPr>
        <p:spPr>
          <a:xfrm>
            <a:off x="8092440" y="470916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731520"/>
            <a:ext cx="7772400" cy="1463040"/>
          </a:xfrm>
          <a:prstGeom prst="rect">
            <a:avLst/>
          </a:prstGeom>
          <a:noFill/>
          <a:ln/>
        </p:spPr>
        <p:txBody>
          <a:bodyPr wrap="square" lIns="0" tIns="0" rIns="0" bIns="0" rtlCol="0" anchor="t"/>
          <a:lstStyle/>
          <a:p>
            <a:pPr indent="0" marL="0">
              <a:buNone/>
            </a:pPr>
            <a:r>
              <a:rPr lang="en-US" sz="3400" dirty="0">
                <a:solidFill>
                  <a:schemeClr val="bg1"/>
                </a:solidFill>
                <a:latin typeface="Cambria" pitchFamily="34" charset="0"/>
                <a:ea typeface="Cambria" pitchFamily="34" charset="-122"/>
                <a:cs typeface="Cambria" pitchFamily="34" charset="-120"/>
              </a:rPr>
              <a:t>Alignment decides when.</a:t>
            </a:r>
            <a:endParaRPr lang="en-US" sz="3400" dirty="0"/>
          </a:p>
          <a:p>
            <a:pPr indent="0" marL="0">
              <a:buNone/>
            </a:pPr>
            <a:r>
              <a:rPr lang="en-US" sz="3400" dirty="0">
                <a:solidFill>
                  <a:schemeClr val="bg1"/>
                </a:solidFill>
                <a:latin typeface="Cambria" pitchFamily="34" charset="0"/>
                <a:ea typeface="Cambria" pitchFamily="34" charset="-122"/>
                <a:cs typeface="Cambria" pitchFamily="34" charset="-120"/>
              </a:rPr>
              <a:t>Acoustics decide how.</a:t>
            </a:r>
            <a:endParaRPr lang="en-US" sz="3400" dirty="0"/>
          </a:p>
        </p:txBody>
      </p:sp>
      <p:sp>
        <p:nvSpPr>
          <p:cNvPr id="3" name="Text 1"/>
          <p:cNvSpPr txBox="1"/>
          <p:nvPr/>
        </p:nvSpPr>
        <p:spPr>
          <a:xfrm>
            <a:off x="685800" y="2240280"/>
            <a:ext cx="548640" cy="365760"/>
          </a:xfrm>
          <a:prstGeom prst="rect">
            <a:avLst/>
          </a:prstGeom>
          <a:noFill/>
          <a:ln/>
        </p:spPr>
        <p:txBody>
          <a:bodyPr wrap="square" lIns="0" tIns="0" rIns="0" bIns="0" rtlCol="0" anchor="ctr"/>
          <a:lstStyle/>
          <a:p>
            <a:pPr indent="0" marL="0">
              <a:buNone/>
            </a:pPr>
            <a:r>
              <a:rPr lang="en-US" sz="1500" dirty="0">
                <a:solidFill>
                  <a:schemeClr val="accent4"/>
                </a:solidFill>
                <a:latin typeface="Cambria" pitchFamily="34" charset="0"/>
                <a:ea typeface="Cambria" pitchFamily="34" charset="-122"/>
                <a:cs typeface="Cambria" pitchFamily="34" charset="-120"/>
              </a:rPr>
              <a:t>H1</a:t>
            </a:r>
            <a:endParaRPr lang="en-US" sz="1500" dirty="0"/>
          </a:p>
        </p:txBody>
      </p:sp>
      <p:sp>
        <p:nvSpPr>
          <p:cNvPr id="4" name="Text 2"/>
          <p:cNvSpPr txBox="1"/>
          <p:nvPr/>
        </p:nvSpPr>
        <p:spPr>
          <a:xfrm>
            <a:off x="1325880" y="2240280"/>
            <a:ext cx="713232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Learned acoustics are essential: 36.6% → 3.1% WER with the same timing</a:t>
            </a:r>
            <a:endParaRPr lang="en-US" sz="1400" dirty="0"/>
          </a:p>
        </p:txBody>
      </p:sp>
      <p:sp>
        <p:nvSpPr>
          <p:cNvPr id="5" name="Text 3"/>
          <p:cNvSpPr txBox="1"/>
          <p:nvPr/>
        </p:nvSpPr>
        <p:spPr>
          <a:xfrm>
            <a:off x="685800" y="2651760"/>
            <a:ext cx="548640" cy="365760"/>
          </a:xfrm>
          <a:prstGeom prst="rect">
            <a:avLst/>
          </a:prstGeom>
          <a:noFill/>
          <a:ln/>
        </p:spPr>
        <p:txBody>
          <a:bodyPr wrap="square" lIns="0" tIns="0" rIns="0" bIns="0" rtlCol="0" anchor="ctr"/>
          <a:lstStyle/>
          <a:p>
            <a:pPr indent="0" marL="0">
              <a:buNone/>
            </a:pPr>
            <a:r>
              <a:rPr lang="en-US" sz="1500" dirty="0">
                <a:solidFill>
                  <a:schemeClr val="accent4"/>
                </a:solidFill>
                <a:latin typeface="Cambria" pitchFamily="34" charset="0"/>
                <a:ea typeface="Cambria" pitchFamily="34" charset="-122"/>
                <a:cs typeface="Cambria" pitchFamily="34" charset="-120"/>
              </a:rPr>
              <a:t>H2</a:t>
            </a:r>
            <a:endParaRPr lang="en-US" sz="1500" dirty="0"/>
          </a:p>
        </p:txBody>
      </p:sp>
      <p:sp>
        <p:nvSpPr>
          <p:cNvPr id="6" name="Text 4"/>
          <p:cNvSpPr txBox="1"/>
          <p:nvPr/>
        </p:nvSpPr>
        <p:spPr>
          <a:xfrm>
            <a:off x="1325880" y="2651760"/>
            <a:ext cx="713232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Explicit timing improves the neural model: 5.3% → 3.1% WER, equal naturalness</a:t>
            </a:r>
            <a:endParaRPr lang="en-US" sz="1400" dirty="0"/>
          </a:p>
        </p:txBody>
      </p:sp>
      <p:sp>
        <p:nvSpPr>
          <p:cNvPr id="7" name="Text 5"/>
          <p:cNvSpPr txBox="1"/>
          <p:nvPr/>
        </p:nvSpPr>
        <p:spPr>
          <a:xfrm>
            <a:off x="685800" y="3063240"/>
            <a:ext cx="548640" cy="365760"/>
          </a:xfrm>
          <a:prstGeom prst="rect">
            <a:avLst/>
          </a:prstGeom>
          <a:noFill/>
          <a:ln/>
        </p:spPr>
        <p:txBody>
          <a:bodyPr wrap="square" lIns="0" tIns="0" rIns="0" bIns="0" rtlCol="0" anchor="ctr"/>
          <a:lstStyle/>
          <a:p>
            <a:pPr indent="0" marL="0">
              <a:buNone/>
            </a:pPr>
            <a:r>
              <a:rPr lang="en-US" sz="1500" dirty="0">
                <a:solidFill>
                  <a:schemeClr val="accent4"/>
                </a:solidFill>
                <a:latin typeface="Cambria" pitchFamily="34" charset="0"/>
                <a:ea typeface="Cambria" pitchFamily="34" charset="-122"/>
                <a:cs typeface="Cambria" pitchFamily="34" charset="-120"/>
              </a:rPr>
              <a:t>H3</a:t>
            </a:r>
            <a:endParaRPr lang="en-US" sz="1500" dirty="0"/>
          </a:p>
        </p:txBody>
      </p:sp>
      <p:sp>
        <p:nvSpPr>
          <p:cNvPr id="8" name="Text 6"/>
          <p:cNvSpPr txBox="1"/>
          <p:nvPr/>
        </p:nvSpPr>
        <p:spPr>
          <a:xfrm>
            <a:off x="1325880" y="3063240"/>
            <a:ext cx="7132320" cy="3657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Fine-tuning fixes raw timing but over-smooths the voice</a:t>
            </a:r>
            <a:endParaRPr lang="en-US" sz="1400" dirty="0"/>
          </a:p>
        </p:txBody>
      </p:sp>
      <p:sp>
        <p:nvSpPr>
          <p:cNvPr id="9" name="Text 7"/>
          <p:cNvSpPr txBox="1"/>
          <p:nvPr/>
        </p:nvSpPr>
        <p:spPr>
          <a:xfrm>
            <a:off x="685800" y="3657600"/>
            <a:ext cx="7772400" cy="32004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Next: a diffusion decoder (Grad-TTS) driven by our durations, to close the naturalness gap left by over-smoothing.</a:t>
            </a:r>
            <a:endParaRPr lang="en-US" sz="1200" dirty="0"/>
          </a:p>
        </p:txBody>
      </p:sp>
      <p:sp>
        <p:nvSpPr>
          <p:cNvPr id="10" name="Text 8"/>
          <p:cNvSpPr txBox="1"/>
          <p:nvPr/>
        </p:nvSpPr>
        <p:spPr>
          <a:xfrm>
            <a:off x="685800" y="4480560"/>
            <a:ext cx="777240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github.com/shiavm006/phonetic-guided-tts</a:t>
            </a:r>
            <a:endParaRPr lang="en-US" sz="1100" dirty="0"/>
          </a:p>
        </p:txBody>
      </p:sp>
    </p:spTree>
  </p:cSld>
  <p:clrMapOvr>
    <a:masterClrMapping/>
  </p:clrMapOvr>
</p:sld>
</file>

<file path=ppt/theme/theme1.xml><?xml version="1.0" encoding="utf-8"?>
<a:theme xmlns:a="http://schemas.openxmlformats.org/drawingml/2006/main" name="Ink Minimal">
  <a:themeElements>
    <a:clrScheme name="Ink Minimal">
      <a:dk1>
        <a:srgbClr val="222222"/>
      </a:dk1>
      <a:lt1>
        <a:srgbClr val="FFFFFF"/>
      </a:lt1>
      <a:dk2>
        <a:srgbClr val="1F3A5F"/>
      </a:dk2>
      <a:lt2>
        <a:srgbClr val="E9EDF2"/>
      </a:lt2>
      <a:accent1>
        <a:srgbClr val="1F3A5F"/>
      </a:accent1>
      <a:accent2>
        <a:srgbClr val="B5543C"/>
      </a:accent2>
      <a:accent3>
        <a:srgbClr val="7A7F87"/>
      </a:accent3>
      <a:accent4>
        <a:srgbClr val="C9CDD3"/>
      </a:accent4>
      <a:accent5>
        <a:srgbClr val="B9BEC6"/>
      </a:accent5>
      <a:accent6>
        <a:srgbClr val="3A3F45"/>
      </a:accent6>
      <a:hlink>
        <a:srgbClr val="1F3A5F"/>
      </a:hlink>
      <a:folHlink>
        <a:srgbClr val="7A7F87"/>
      </a:folHlink>
    </a:clrScheme>
    <a:fontScheme name="Ink Minim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Phonetic Guided Speech Generation</dc:title>
  <dc:subject>PptxGenJS Presentation</dc:subject>
  <dc:creator>Shivam Mittal, Khushi Batra, Divya Singh, Sanath Waraikar, Aryan</dc:creator>
  <cp:lastModifiedBy>Shivam Mittal, Khushi Batra, Divya Singh, Sanath Waraikar, Aryan</cp:lastModifiedBy>
  <cp:revision>1</cp:revision>
  <dcterms:created xsi:type="dcterms:W3CDTF">2026-10-25T19:30:00Z</dcterms:created>
  <dcterms:modified xsi:type="dcterms:W3CDTF">2026-10-25T19:30:00Z</dcterms:modified>
</cp:coreProperties>
</file>